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D75"/>
                </a:solidFill>
                <a:latin typeface="Arial"/>
              </a:defRPr>
            </a:pPr>
            <a:r>
              <a:rPr sz="1300" b="0" i="0" u="none" strike="noStrike">
                <a:solidFill>
                  <a:srgbClr val="5B6D75"/>
                </a:solidFill>
                <a:latin typeface="Arial"/>
              </a:rPr>
              <a:t>Top 5 predictors</a:t>
            </a:r>
          </a:p>
        </c:rich>
      </c:tx>
      <c:layout/>
      <c:overlay val="0"/>
    </c:title>
    <c:autoTitleDeleted val="0"/>
    <c:plotArea>
      <c:layout/>
      <c:barChart>
        <c:barDir val="bar"/>
        <c:grouping val="clustered"/>
        <c:varyColors val="0"/>
        <c:ser>
          <c:idx val="0"/>
          <c:order val="0"/>
          <c:tx>
            <c:strRef>
              <c:f>Sheet1!$B$1</c:f>
              <c:strCache>
                <c:ptCount val="1"/>
                <c:pt idx="0">
                  <c:v>MeanDecreaseGini</c:v>
                </c:pt>
              </c:strCache>
            </c:strRef>
          </c:tx>
          <c:spPr>
            <a:solidFill>
              <a:srgbClr val="F2A03D"/>
            </a:solidFill>
            <a:effectLst/>
          </c:spPr>
          <c:invertIfNegative val="0"/>
          <c:dLbls>
            <c:numFmt formatCode="#,##0" sourceLinked="0"/>
            <c:txPr>
              <a:bodyPr/>
              <a:lstStyle/>
              <a:p>
                <a:pPr>
                  <a:defRPr b="0" i="0" strike="noStrike" sz="1100" u="none">
                    <a:solidFill>
                      <a:srgbClr val="1B2B33"/>
                    </a:solidFill>
                    <a:latin typeface="Arial"/>
                  </a:defRPr>
                </a:pPr>
              </a:p>
            </c:txPr>
            <c:showLegendKey val="0"/>
            <c:showVal val="1"/>
            <c:showCatName val="0"/>
            <c:showSerName val="0"/>
            <c:showPercent val="0"/>
            <c:showBubbleSize val="0"/>
            <c:showLeaderLines val="0"/>
          </c:dLbls>
          <c:dPt>
            <c:idx val="0"/>
            <c:invertIfNegative val="0"/>
            <c:bubble3D val="0"/>
            <c:spPr>
              <a:solidFill>
                <a:srgbClr val="F2A03D"/>
              </a:solidFill>
              <a:effectLst/>
            </c:spPr>
          </c:dPt>
          <c:dPt>
            <c:idx val="1"/>
            <c:invertIfNegative val="0"/>
            <c:bubble3D val="0"/>
            <c:spPr>
              <a:solidFill>
                <a:srgbClr val="1F7A80"/>
              </a:solidFill>
              <a:effectLst/>
            </c:spPr>
          </c:dPt>
          <c:dPt>
            <c:idx val="2"/>
            <c:invertIfNegative val="0"/>
            <c:bubble3D val="0"/>
            <c:spPr>
              <a:solidFill>
                <a:srgbClr val="1F7A80"/>
              </a:solidFill>
              <a:effectLst/>
            </c:spPr>
          </c:dPt>
          <c:dPt>
            <c:idx val="3"/>
            <c:invertIfNegative val="0"/>
            <c:bubble3D val="0"/>
            <c:spPr>
              <a:solidFill>
                <a:srgbClr val="1F7A80"/>
              </a:solidFill>
              <a:effectLst/>
            </c:spPr>
          </c:dPt>
          <c:dPt>
            <c:idx val="4"/>
            <c:invertIfNegative val="0"/>
            <c:bubble3D val="0"/>
            <c:spPr>
              <a:solidFill>
                <a:srgbClr val="1F7A80"/>
              </a:solidFill>
              <a:effectLst/>
            </c:spPr>
          </c:dPt>
          <c:cat>
            <c:multiLvlStrRef>
              <c:f>Sheet1!$A$2:$A$6</c:f>
              <c:multiLvlStrCache>
                <c:ptCount val="5"/>
                <c:lvl>
                  <c:pt idx="0">
                    <c:v>hhc_moth_parthh</c:v>
                  </c:pt>
                  <c:pt idx="1">
                    <c:v>Population</c:v>
                  </c:pt>
                  <c:pt idx="2">
                    <c:v>prov</c:v>
                  </c:pt>
                  <c:pt idx="3">
                    <c:v>lab_amount</c:v>
                  </c:pt>
                  <c:pt idx="4">
                    <c:v>geotype</c:v>
                  </c:pt>
                </c:lvl>
              </c:multiLvlStrCache>
            </c:multiLvlStrRef>
          </c:cat>
          <c:val>
            <c:numRef>
              <c:f>Sheet1!$B$2:$B$6</c:f>
              <c:numCache>
                <c:formatCode>General</c:formatCode>
                <c:ptCount val="5"/>
                <c:pt idx="0">
                  <c:v>704.69</c:v>
                </c:pt>
                <c:pt idx="1">
                  <c:v>89.96</c:v>
                </c:pt>
                <c:pt idx="2">
                  <c:v>80.17</c:v>
                </c:pt>
                <c:pt idx="3">
                  <c:v>77.07</c:v>
                </c:pt>
                <c:pt idx="4">
                  <c:v>62.29</c:v>
                </c:pt>
              </c:numCache>
            </c:numRef>
          </c:val>
        </c:ser>
        <c:dLbls>
          <c:numFmt formatCode="#,##0" sourceLinked="0"/>
          <c:txPr>
            <a:bodyPr/>
            <a:lstStyle/>
            <a:p>
              <a:pPr>
                <a:defRPr b="0" i="0" strike="noStrike" sz="1100" u="none">
                  <a:solidFill>
                    <a:srgbClr val="1B2B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B33"/>
                </a:solidFill>
                <a:latin typeface="Arial"/>
              </a:defRPr>
            </a:pPr>
            <a:endParaRPr lang="en-US"/>
          </a:p>
        </c:txPr>
        <c:crossAx val="2094734552"/>
        <c:crosses val="autoZero"/>
        <c:auto val="1"/>
        <c:lblAlgn val="ctr"/>
        <c:noMultiLvlLbl val="1"/>
      </c:catAx>
      <c:valAx>
        <c:axId val="2094734552"/>
        <c:scaling>
          <c:orientation val="minMax"/>
          <c:max val="8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operates within the social policy and welfare domain, focusing on family stability. It provides a data-driven foundation for decision-makers to allocate resources more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Ensures consistent, standardized categories across the data.
Helps identify unexpected or missing categories that need review.
Improves data quality for better analysis and reporting.
Steps:
- Extract suffixes (None, Primary, Secondary, Tertiary) from df3.
- Build mapping: suffix → full label (e.g., "Primary" → "2. Primary").
- Replace matching values in df2 with full labels.
- Leave unmatched values as-is, flag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&amp; Interpretation
The model performs very well overall, with strong accuracy and balanced performance across both classes.
The model performs better on class 1 (father present) than class 0.
       Class 0 (father not in household) has lower sensitivity (73%), meaning more false negatives (i.e., father actually not present but predicted as present).
       Class 1 (father present) is predicted with high precision (90%), indicating fewer false positives. This means the model correctly classifies 90% of class 1 (father present).
"The balanced accuracy of 81.5% shows that the XGBOOST model effectively distinguishes between both classes, despite the original imbalance in the dataset. This suggests that downsampling was successful in improving the model’s ability to generalize across class boundaries.“
Kappa = 0.6299 indicates substantial agreement beyond chance.
Accuracy alone can be misleading—especially when the dataset is imbalanced. 
Kappa corrects for this by considering how often you'd expect agreement just by chance.
This is a good result, showing that the model isn't just "getting lucky.“
"The Kappa statistic of 0.6299 confirms that the model’s performance is not due to random guessing.
 This result supports the conclusion that the Random Forest model has learned meaningful patterns in the data and generalizes well, 
even in the context of class imbalance."
The OOB error rate of 18.5% is consistent with the test accuracy, supporting the model's reliability.
OOB is like cross-validation for Random Forests — this is a reliable estimate of generalization error.
That means the model misclassifies ~19 out of 100 observations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interpret these as: Variables with higher values have more influence in partitioning the data and improving the prediction accuracy.
These are the strongest variables in predicting whether the father is part of the household.
The high importance of hhc_relationship and hhc_moth_parthh suggests that family structure is the most powerful signal in predicting father presence.
Socio-economic variables like income, grants, employment status, and education-related violence or absence also have predictive power.
Most important variables based on MeanDecreaseGini:
hhc_moth_parthh (704.69): Huge impact on purity of splits, confirming it’s a top feature.
Population (89.96): Strong contributor to node purity.
lab_amount (77.07): Likely labor or employment related.
prov (80.17): Also important for classification purity.
geotype (62.29): Geographic or environmental type is important.
Variables with low or no importance:
hhc_fath_alive (0 across the board): No importance in the model.
undisab (-0.4 and low values): Negative or very low importance — might not contribute meaningfully.
What does this mean practically?
The model relies most heavily on hhc_moth_parthh (some household or parental variable), Population, and prov for prediction.
Variables with higher MeanDecreaseAccuracy and MeanDecreaseGini are key drivers of the model’s performance.
Variables with zero or negative importance could potentially be removed from the model without harming, or even improving,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aim to translate analytical findings into practical social actions. They emphasize prevention and empowerment rather than reactive policy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8778240" y="822960"/>
            <a:ext cx="1371600" cy="1371600"/>
          </a:xfrm>
          <a:prstGeom prst="ellipse">
            <a:avLst/>
          </a:prstGeom>
          <a:solidFill>
            <a:srgbClr val="F2A03D"/>
          </a:solidFill>
          <a:ln/>
        </p:spPr>
      </p:sp>
      <p:sp>
        <p:nvSpPr>
          <p:cNvPr id="3" name="Shape 1"/>
          <p:cNvSpPr/>
          <p:nvPr/>
        </p:nvSpPr>
        <p:spPr>
          <a:xfrm>
            <a:off x="9966960" y="1828800"/>
            <a:ext cx="1920240" cy="1920240"/>
          </a:xfrm>
          <a:prstGeom prst="ellipse">
            <a:avLst/>
          </a:prstGeom>
          <a:solidFill>
            <a:srgbClr val="1F7A80"/>
          </a:solidFill>
          <a:ln/>
        </p:spPr>
      </p:sp>
      <p:sp>
        <p:nvSpPr>
          <p:cNvPr id="4" name="Shape 2"/>
          <p:cNvSpPr/>
          <p:nvPr/>
        </p:nvSpPr>
        <p:spPr>
          <a:xfrm>
            <a:off x="8138160" y="2286000"/>
            <a:ext cx="1005840" cy="1005840"/>
          </a:xfrm>
          <a:prstGeom prst="ellipse">
            <a:avLst/>
          </a:prstGeom>
          <a:solidFill>
            <a:srgbClr val="B5352B"/>
          </a:solidFill>
          <a:ln/>
        </p:spPr>
      </p:sp>
      <p:sp>
        <p:nvSpPr>
          <p:cNvPr id="5" name="Shape 3"/>
          <p:cNvSpPr/>
          <p:nvPr/>
        </p:nvSpPr>
        <p:spPr>
          <a:xfrm>
            <a:off x="9052560" y="3108960"/>
            <a:ext cx="1554480" cy="1554480"/>
          </a:xfrm>
          <a:prstGeom prst="ellipse">
            <a:avLst/>
          </a:prstGeom>
          <a:solidFill>
            <a:srgbClr val="18424E"/>
          </a:solidFill>
          <a:ln/>
        </p:spPr>
      </p:sp>
      <p:sp>
        <p:nvSpPr>
          <p:cNvPr id="6" name="Shape 4"/>
          <p:cNvSpPr/>
          <p:nvPr/>
        </p:nvSpPr>
        <p:spPr>
          <a:xfrm>
            <a:off x="10515600" y="4114800"/>
            <a:ext cx="1097280" cy="1097280"/>
          </a:xfrm>
          <a:prstGeom prst="ellipse">
            <a:avLst/>
          </a:prstGeom>
          <a:solidFill>
            <a:srgbClr val="F2A03D">
              <a:alpha val="70000"/>
            </a:srgbClr>
          </a:solidFill>
          <a:ln/>
        </p:spPr>
      </p:sp>
      <p:sp>
        <p:nvSpPr>
          <p:cNvPr id="7" name="Shape 5"/>
          <p:cNvSpPr/>
          <p:nvPr/>
        </p:nvSpPr>
        <p:spPr>
          <a:xfrm>
            <a:off x="7955280" y="4297680"/>
            <a:ext cx="822960" cy="822960"/>
          </a:xfrm>
          <a:prstGeom prst="ellipse">
            <a:avLst/>
          </a:prstGeom>
          <a:solidFill>
            <a:srgbClr val="1F7A80">
              <a:alpha val="70000"/>
            </a:srgbClr>
          </a:solidFill>
          <a:ln/>
        </p:spPr>
      </p:sp>
      <p:sp>
        <p:nvSpPr>
          <p:cNvPr id="8" name="Shape 6"/>
          <p:cNvSpPr/>
          <p:nvPr/>
        </p:nvSpPr>
        <p:spPr>
          <a:xfrm>
            <a:off x="9326880" y="4937760"/>
            <a:ext cx="914400" cy="914400"/>
          </a:xfrm>
          <a:prstGeom prst="ellipse">
            <a:avLst/>
          </a:prstGeom>
          <a:solidFill>
            <a:srgbClr val="FFFFFF">
              <a:alpha val="15000"/>
            </a:srgbClr>
          </a:solidFill>
          <a:ln/>
        </p:spPr>
      </p:sp>
      <p:sp>
        <p:nvSpPr>
          <p:cNvPr id="9" name="Text 7"/>
          <p:cNvSpPr txBox="1"/>
          <p:nvPr/>
        </p:nvSpPr>
        <p:spPr>
          <a:xfrm>
            <a:off x="640080" y="822960"/>
            <a:ext cx="6858000" cy="274320"/>
          </a:xfrm>
          <a:prstGeom prst="rect">
            <a:avLst/>
          </a:prstGeom>
          <a:noFill/>
          <a:ln/>
        </p:spPr>
        <p:txBody>
          <a:bodyPr wrap="square" lIns="0" tIns="0" rIns="0" bIns="0" rtlCol="0" anchor="t"/>
          <a:lstStyle/>
          <a:p>
            <a:pPr algn="l" indent="0" marL="0">
              <a:buNone/>
            </a:pPr>
            <a:r>
              <a:rPr lang="en-US" sz="1200" b="1" spc="300" kern="0" dirty="0">
                <a:solidFill>
                  <a:srgbClr val="F2A03D"/>
                </a:solidFill>
                <a:latin typeface="Calibri" pitchFamily="34" charset="0"/>
                <a:ea typeface="Calibri" pitchFamily="34" charset="-122"/>
                <a:cs typeface="Calibri" pitchFamily="34" charset="-120"/>
              </a:rPr>
              <a:t>CAPSTONE PROJECT · FINAL REPORT</a:t>
            </a:r>
            <a:endParaRPr lang="en-US" sz="1200" dirty="0"/>
          </a:p>
        </p:txBody>
      </p:sp>
      <p:sp>
        <p:nvSpPr>
          <p:cNvPr id="10" name="Text 8"/>
          <p:cNvSpPr txBox="1"/>
          <p:nvPr/>
        </p:nvSpPr>
        <p:spPr>
          <a:xfrm>
            <a:off x="640080" y="1325880"/>
            <a:ext cx="7223760" cy="3108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Understanding and Predicting Father Absence in South Africa Using Machine Learning for Social Insight and Policy Support.</a:t>
            </a:r>
            <a:endParaRPr lang="en-US" sz="3400" dirty="0"/>
          </a:p>
        </p:txBody>
      </p:sp>
      <p:sp>
        <p:nvSpPr>
          <p:cNvPr id="11" name="Text 9"/>
          <p:cNvSpPr txBox="1"/>
          <p:nvPr/>
        </p:nvSpPr>
        <p:spPr>
          <a:xfrm>
            <a:off x="640080" y="4846320"/>
            <a:ext cx="5486400" cy="256032"/>
          </a:xfrm>
          <a:prstGeom prst="rect">
            <a:avLst/>
          </a:prstGeom>
          <a:noFill/>
          <a:ln/>
        </p:spPr>
        <p:txBody>
          <a:bodyPr wrap="square" lIns="0" tIns="0" rIns="0" bIns="0" rtlCol="0" anchor="t"/>
          <a:lstStyle/>
          <a:p>
            <a:pPr algn="l" indent="0" marL="0">
              <a:buNone/>
            </a:pPr>
            <a:r>
              <a:rPr lang="en-US" sz="1200" dirty="0">
                <a:solidFill>
                  <a:srgbClr val="D5E4E7"/>
                </a:solidFill>
                <a:latin typeface="Calibri" pitchFamily="34" charset="0"/>
                <a:ea typeface="Calibri" pitchFamily="34" charset="-122"/>
                <a:cs typeface="Calibri" pitchFamily="34" charset="-120"/>
              </a:rPr>
              <a:t>Presented by</a:t>
            </a:r>
            <a:endParaRPr lang="en-US" sz="1200" dirty="0"/>
          </a:p>
        </p:txBody>
      </p:sp>
      <p:sp>
        <p:nvSpPr>
          <p:cNvPr id="12" name="Text 10"/>
          <p:cNvSpPr txBox="1"/>
          <p:nvPr/>
        </p:nvSpPr>
        <p:spPr>
          <a:xfrm>
            <a:off x="640080" y="5102352"/>
            <a:ext cx="6400800" cy="36576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Asnath Miandabu  ·  202306148</a:t>
            </a:r>
            <a:endParaRPr lang="en-US" sz="1800" dirty="0"/>
          </a:p>
        </p:txBody>
      </p:sp>
      <p:sp>
        <p:nvSpPr>
          <p:cNvPr id="13" name="Text 11"/>
          <p:cNvSpPr txBox="1"/>
          <p:nvPr/>
        </p:nvSpPr>
        <p:spPr>
          <a:xfrm>
            <a:off x="640080" y="5532120"/>
            <a:ext cx="6400800" cy="292608"/>
          </a:xfrm>
          <a:prstGeom prst="rect">
            <a:avLst/>
          </a:prstGeom>
          <a:noFill/>
          <a:ln/>
        </p:spPr>
        <p:txBody>
          <a:bodyPr wrap="square" lIns="0" tIns="0" rIns="0" bIns="0" rtlCol="0" anchor="t"/>
          <a:lstStyle/>
          <a:p>
            <a:pPr algn="l" indent="0" marL="0">
              <a:buNone/>
            </a:pPr>
            <a:r>
              <a:rPr lang="en-US" sz="1400" dirty="0">
                <a:solidFill>
                  <a:srgbClr val="D5E4E7"/>
                </a:solidFill>
                <a:latin typeface="Calibri" pitchFamily="34" charset="0"/>
                <a:ea typeface="Calibri" pitchFamily="34" charset="-122"/>
                <a:cs typeface="Calibri" pitchFamily="34" charset="-120"/>
              </a:rPr>
              <a:t>Lecturer: Dr. Ibidun Obagbuwa</a:t>
            </a:r>
            <a:endParaRPr lang="en-US" sz="1400" dirty="0"/>
          </a:p>
        </p:txBody>
      </p:sp>
      <p:sp>
        <p:nvSpPr>
          <p:cNvPr id="14" name="Text 12"/>
          <p:cNvSpPr txBox="1"/>
          <p:nvPr/>
        </p:nvSpPr>
        <p:spPr>
          <a:xfrm>
            <a:off x="640080" y="5852160"/>
            <a:ext cx="6400800" cy="292608"/>
          </a:xfrm>
          <a:prstGeom prst="rect">
            <a:avLst/>
          </a:prstGeom>
          <a:noFill/>
          <a:ln/>
        </p:spPr>
        <p:txBody>
          <a:bodyPr wrap="square" lIns="0" tIns="0" rIns="0" bIns="0" rtlCol="0" anchor="t"/>
          <a:lstStyle/>
          <a:p>
            <a:pPr algn="l" indent="0" marL="0">
              <a:buNone/>
            </a:pPr>
            <a:r>
              <a:rPr lang="en-US" sz="1400" dirty="0">
                <a:solidFill>
                  <a:srgbClr val="D5E4E7"/>
                </a:solidFill>
                <a:latin typeface="Calibri" pitchFamily="34" charset="0"/>
                <a:ea typeface="Calibri" pitchFamily="34" charset="-122"/>
                <a:cs typeface="Calibri" pitchFamily="34" charset="-120"/>
              </a:rPr>
              <a:t>Sol Plaatje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8"/>
        </a:solidFill>
      </p:bgPr>
    </p:bg>
    <p:spTree>
      <p:nvGrpSpPr>
        <p:cNvPr id="1" name=""/>
        <p:cNvGrpSpPr/>
        <p:nvPr/>
      </p:nvGrpSpPr>
      <p:grpSpPr>
        <a:xfrm>
          <a:off x="0" y="0"/>
          <a:ext cx="0" cy="0"/>
          <a:chOff x="0" y="0"/>
          <a:chExt cx="0" cy="0"/>
        </a:xfrm>
      </p:grpSpPr>
      <p:pic>
        <p:nvPicPr>
          <p:cNvPr id="2" name="Image 0" descr="/home/claude/assets/people_crop.jpg">    </p:cNvPr>
          <p:cNvPicPr>
            <a:picLocks noChangeAspect="1"/>
          </p:cNvPicPr>
          <p:nvPr/>
        </p:nvPicPr>
        <p:blipFill>
          <a:blip r:embed="rId1"/>
          <a:stretch>
            <a:fillRect/>
          </a:stretch>
        </p:blipFill>
        <p:spPr>
          <a:xfrm>
            <a:off x="0" y="0"/>
            <a:ext cx="5120640" cy="6858000"/>
          </a:xfrm>
          <a:prstGeom prst="rect">
            <a:avLst/>
          </a:prstGeom>
        </p:spPr>
      </p:pic>
      <p:sp>
        <p:nvSpPr>
          <p:cNvPr id="3" name="Text 0"/>
          <p:cNvSpPr txBox="1"/>
          <p:nvPr/>
        </p:nvSpPr>
        <p:spPr>
          <a:xfrm>
            <a:off x="5669280" y="640080"/>
            <a:ext cx="54864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BACKGROUND</a:t>
            </a:r>
            <a:endParaRPr lang="en-US" sz="1100" dirty="0"/>
          </a:p>
        </p:txBody>
      </p:sp>
      <p:sp>
        <p:nvSpPr>
          <p:cNvPr id="4" name="Text 1"/>
          <p:cNvSpPr txBox="1"/>
          <p:nvPr/>
        </p:nvSpPr>
        <p:spPr>
          <a:xfrm>
            <a:off x="5669280" y="896112"/>
            <a:ext cx="594360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Aim of the Study</a:t>
            </a:r>
            <a:endParaRPr lang="en-US" sz="3200" dirty="0"/>
          </a:p>
        </p:txBody>
      </p:sp>
      <p:sp>
        <p:nvSpPr>
          <p:cNvPr id="5" name="Text 2"/>
          <p:cNvSpPr txBox="1"/>
          <p:nvPr/>
        </p:nvSpPr>
        <p:spPr>
          <a:xfrm>
            <a:off x="5669280" y="1783080"/>
            <a:ext cx="5943600" cy="2194560"/>
          </a:xfrm>
          <a:prstGeom prst="rect">
            <a:avLst/>
          </a:prstGeom>
          <a:noFill/>
          <a:ln/>
        </p:spPr>
        <p:txBody>
          <a:bodyPr wrap="square" lIns="0" tIns="0" rIns="0" bIns="0" rtlCol="0" anchor="t"/>
          <a:lstStyle/>
          <a:p>
            <a:pPr algn="l" indent="0" marL="0">
              <a:spcAft>
                <a:spcPts val="600"/>
              </a:spcAft>
              <a:buNone/>
            </a:pPr>
            <a:r>
              <a:rPr lang="en-US" sz="1600" dirty="0">
                <a:solidFill>
                  <a:srgbClr val="1B2B33"/>
                </a:solidFill>
                <a:latin typeface="Calibri" pitchFamily="34" charset="0"/>
                <a:ea typeface="Calibri" pitchFamily="34" charset="-122"/>
                <a:cs typeface="Calibri" pitchFamily="34" charset="-120"/>
              </a:rPr>
              <a:t>The aim of this study is to explore the effects and causes of absent fathers, and develop an interpretable, data-driven machine learning framework to predict father absence in South African households. Utilizing demographic, socio-economic, health, and educational indicators, the framework will uncover key risk factors and generate actionable insights.</a:t>
            </a:r>
            <a:endParaRPr lang="en-US" sz="1600" dirty="0"/>
          </a:p>
        </p:txBody>
      </p:sp>
      <p:sp>
        <p:nvSpPr>
          <p:cNvPr id="6" name="Text 3"/>
          <p:cNvSpPr txBox="1"/>
          <p:nvPr/>
        </p:nvSpPr>
        <p:spPr>
          <a:xfrm>
            <a:off x="5669280" y="3794760"/>
            <a:ext cx="5943600" cy="822960"/>
          </a:xfrm>
          <a:prstGeom prst="rect">
            <a:avLst/>
          </a:prstGeom>
          <a:noFill/>
          <a:ln/>
        </p:spPr>
        <p:txBody>
          <a:bodyPr wrap="square" lIns="0" tIns="0" rIns="0" bIns="0" rtlCol="0" anchor="t"/>
          <a:lstStyle/>
          <a:p>
            <a:pPr algn="l" indent="0" marL="0">
              <a:buNone/>
            </a:pPr>
            <a:r>
              <a:rPr lang="en-US" sz="1600" dirty="0">
                <a:solidFill>
                  <a:srgbClr val="1B2B33"/>
                </a:solidFill>
                <a:latin typeface="Calibri" pitchFamily="34" charset="0"/>
                <a:ea typeface="Calibri" pitchFamily="34" charset="-122"/>
                <a:cs typeface="Calibri" pitchFamily="34" charset="-120"/>
              </a:rPr>
              <a:t>These insights will support social workers, educators, and policymakers in targeting at-risk households and strengthening family support systems.</a:t>
            </a:r>
            <a:endParaRPr lang="en-US" sz="1600" dirty="0"/>
          </a:p>
        </p:txBody>
      </p:sp>
      <p:sp>
        <p:nvSpPr>
          <p:cNvPr id="7" name="Shape 4"/>
          <p:cNvSpPr/>
          <p:nvPr/>
        </p:nvSpPr>
        <p:spPr>
          <a:xfrm>
            <a:off x="5669280" y="4754880"/>
            <a:ext cx="1828800" cy="777240"/>
          </a:xfrm>
          <a:prstGeom prst="roundRect">
            <a:avLst>
              <a:gd name="adj" fmla="val 1411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Shape 5"/>
          <p:cNvSpPr/>
          <p:nvPr/>
        </p:nvSpPr>
        <p:spPr>
          <a:xfrm>
            <a:off x="5806440" y="4864608"/>
            <a:ext cx="548640" cy="548640"/>
          </a:xfrm>
          <a:prstGeom prst="ellipse">
            <a:avLst/>
          </a:prstGeom>
          <a:solidFill>
            <a:srgbClr val="E2F0F1"/>
          </a:solidFill>
          <a:ln/>
        </p:spPr>
      </p:sp>
      <p:pic>
        <p:nvPicPr>
          <p:cNvPr id="9" name="Image 1" descr="preencoded.png">    </p:cNvPr>
          <p:cNvPicPr>
            <a:picLocks noChangeAspect="1"/>
          </p:cNvPicPr>
          <p:nvPr/>
        </p:nvPicPr>
        <p:blipFill>
          <a:blip r:embed="rId2"/>
          <a:stretch>
            <a:fillRect/>
          </a:stretch>
        </p:blipFill>
        <p:spPr>
          <a:xfrm>
            <a:off x="5943600" y="5001768"/>
            <a:ext cx="274320" cy="274320"/>
          </a:xfrm>
          <a:prstGeom prst="rect">
            <a:avLst/>
          </a:prstGeom>
        </p:spPr>
      </p:pic>
      <p:sp>
        <p:nvSpPr>
          <p:cNvPr id="10" name="Text 6"/>
          <p:cNvSpPr txBox="1"/>
          <p:nvPr/>
        </p:nvSpPr>
        <p:spPr>
          <a:xfrm>
            <a:off x="6446520" y="4754880"/>
            <a:ext cx="1005840" cy="77724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Social workers</a:t>
            </a:r>
            <a:endParaRPr lang="en-US" sz="1300" dirty="0"/>
          </a:p>
        </p:txBody>
      </p:sp>
      <p:sp>
        <p:nvSpPr>
          <p:cNvPr id="11" name="Shape 7"/>
          <p:cNvSpPr/>
          <p:nvPr/>
        </p:nvSpPr>
        <p:spPr>
          <a:xfrm>
            <a:off x="7680960" y="4754880"/>
            <a:ext cx="1828800" cy="777240"/>
          </a:xfrm>
          <a:prstGeom prst="roundRect">
            <a:avLst>
              <a:gd name="adj" fmla="val 1411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2" name="Shape 8"/>
          <p:cNvSpPr/>
          <p:nvPr/>
        </p:nvSpPr>
        <p:spPr>
          <a:xfrm>
            <a:off x="7818120" y="4864608"/>
            <a:ext cx="548640" cy="548640"/>
          </a:xfrm>
          <a:prstGeom prst="ellipse">
            <a:avLst/>
          </a:prstGeom>
          <a:solidFill>
            <a:srgbClr val="E2F0F1"/>
          </a:solidFill>
          <a:ln/>
        </p:spPr>
      </p:sp>
      <p:pic>
        <p:nvPicPr>
          <p:cNvPr id="13" name="Image 2" descr="preencoded.png">    </p:cNvPr>
          <p:cNvPicPr>
            <a:picLocks noChangeAspect="1"/>
          </p:cNvPicPr>
          <p:nvPr/>
        </p:nvPicPr>
        <p:blipFill>
          <a:blip r:embed="rId3"/>
          <a:stretch>
            <a:fillRect/>
          </a:stretch>
        </p:blipFill>
        <p:spPr>
          <a:xfrm>
            <a:off x="7955280" y="5001768"/>
            <a:ext cx="274320" cy="274320"/>
          </a:xfrm>
          <a:prstGeom prst="rect">
            <a:avLst/>
          </a:prstGeom>
        </p:spPr>
      </p:pic>
      <p:sp>
        <p:nvSpPr>
          <p:cNvPr id="14" name="Text 9"/>
          <p:cNvSpPr txBox="1"/>
          <p:nvPr/>
        </p:nvSpPr>
        <p:spPr>
          <a:xfrm>
            <a:off x="8458200" y="4754880"/>
            <a:ext cx="1005840" cy="77724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Educators</a:t>
            </a:r>
            <a:endParaRPr lang="en-US" sz="1300" dirty="0"/>
          </a:p>
        </p:txBody>
      </p:sp>
      <p:sp>
        <p:nvSpPr>
          <p:cNvPr id="15" name="Shape 10"/>
          <p:cNvSpPr/>
          <p:nvPr/>
        </p:nvSpPr>
        <p:spPr>
          <a:xfrm>
            <a:off x="9692640" y="4754880"/>
            <a:ext cx="1828800" cy="777240"/>
          </a:xfrm>
          <a:prstGeom prst="roundRect">
            <a:avLst>
              <a:gd name="adj" fmla="val 1411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6" name="Shape 11"/>
          <p:cNvSpPr/>
          <p:nvPr/>
        </p:nvSpPr>
        <p:spPr>
          <a:xfrm>
            <a:off x="9829800" y="4864608"/>
            <a:ext cx="548640" cy="548640"/>
          </a:xfrm>
          <a:prstGeom prst="ellipse">
            <a:avLst/>
          </a:prstGeom>
          <a:solidFill>
            <a:srgbClr val="E2F0F1"/>
          </a:solidFill>
          <a:ln/>
        </p:spPr>
      </p:sp>
      <p:pic>
        <p:nvPicPr>
          <p:cNvPr id="17" name="Image 3" descr="preencoded.png">    </p:cNvPr>
          <p:cNvPicPr>
            <a:picLocks noChangeAspect="1"/>
          </p:cNvPicPr>
          <p:nvPr/>
        </p:nvPicPr>
        <p:blipFill>
          <a:blip r:embed="rId4"/>
          <a:stretch>
            <a:fillRect/>
          </a:stretch>
        </p:blipFill>
        <p:spPr>
          <a:xfrm>
            <a:off x="9966960" y="5001768"/>
            <a:ext cx="274320" cy="274320"/>
          </a:xfrm>
          <a:prstGeom prst="rect">
            <a:avLst/>
          </a:prstGeom>
        </p:spPr>
      </p:pic>
      <p:sp>
        <p:nvSpPr>
          <p:cNvPr id="18" name="Text 12"/>
          <p:cNvSpPr txBox="1"/>
          <p:nvPr/>
        </p:nvSpPr>
        <p:spPr>
          <a:xfrm>
            <a:off x="10469880" y="4754880"/>
            <a:ext cx="1005840" cy="77724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Policymakers</a:t>
            </a:r>
            <a:endParaRPr lang="en-US" sz="1300" dirty="0"/>
          </a:p>
        </p:txBody>
      </p:sp>
      <p:sp>
        <p:nvSpPr>
          <p:cNvPr id="19" name="Text 13"/>
          <p:cNvSpPr txBox="1"/>
          <p:nvPr/>
        </p:nvSpPr>
        <p:spPr>
          <a:xfrm>
            <a:off x="5669280" y="5806440"/>
            <a:ext cx="5943600" cy="548640"/>
          </a:xfrm>
          <a:prstGeom prst="rect">
            <a:avLst/>
          </a:prstGeom>
          <a:noFill/>
          <a:ln/>
        </p:spPr>
        <p:txBody>
          <a:bodyPr wrap="square" lIns="0" tIns="0" rIns="0" bIns="0" rtlCol="0" anchor="t"/>
          <a:lstStyle/>
          <a:p>
            <a:pPr algn="l" indent="0" marL="0">
              <a:buNone/>
            </a:pPr>
            <a:r>
              <a:rPr lang="en-US" sz="1100" i="1" dirty="0">
                <a:solidFill>
                  <a:srgbClr val="5B6D75"/>
                </a:solidFill>
                <a:latin typeface="Calibri" pitchFamily="34" charset="0"/>
                <a:ea typeface="Calibri" pitchFamily="34" charset="-122"/>
                <a:cs typeface="Calibri" pitchFamily="34" charset="-120"/>
              </a:rPr>
              <a:t>Understanding and Predicting Father Absence in South Africa Using Machine Learning for Social Insight and Policy Support</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8"/>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BACKGROUND</a:t>
            </a:r>
            <a:endParaRPr lang="en-US" sz="1100" dirty="0"/>
          </a:p>
        </p:txBody>
      </p:sp>
      <p:sp>
        <p:nvSpPr>
          <p:cNvPr id="4"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Business Domain</a:t>
            </a:r>
            <a:endParaRPr lang="en-US" sz="3200" dirty="0"/>
          </a:p>
        </p:txBody>
      </p:sp>
      <p:sp>
        <p:nvSpPr>
          <p:cNvPr id="5" name="Shape 2"/>
          <p:cNvSpPr/>
          <p:nvPr/>
        </p:nvSpPr>
        <p:spPr>
          <a:xfrm>
            <a:off x="548640" y="1737360"/>
            <a:ext cx="3566160" cy="365760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6" name="Shape 3"/>
          <p:cNvSpPr/>
          <p:nvPr/>
        </p:nvSpPr>
        <p:spPr>
          <a:xfrm>
            <a:off x="868680" y="2103120"/>
            <a:ext cx="914400" cy="914400"/>
          </a:xfrm>
          <a:prstGeom prst="ellipse">
            <a:avLst/>
          </a:prstGeom>
          <a:solidFill>
            <a:srgbClr val="0F2A33"/>
          </a:solidFill>
          <a:ln/>
        </p:spPr>
      </p:sp>
      <p:pic>
        <p:nvPicPr>
          <p:cNvPr id="7" name="Image 0" descr="preencoded.png">    </p:cNvPr>
          <p:cNvPicPr>
            <a:picLocks noChangeAspect="1"/>
          </p:cNvPicPr>
          <p:nvPr/>
        </p:nvPicPr>
        <p:blipFill>
          <a:blip r:embed="rId1"/>
          <a:stretch>
            <a:fillRect/>
          </a:stretch>
        </p:blipFill>
        <p:spPr>
          <a:xfrm>
            <a:off x="1097280" y="2331720"/>
            <a:ext cx="457200" cy="457200"/>
          </a:xfrm>
          <a:prstGeom prst="rect">
            <a:avLst/>
          </a:prstGeom>
        </p:spPr>
      </p:pic>
      <p:sp>
        <p:nvSpPr>
          <p:cNvPr id="8" name="Text 4"/>
          <p:cNvSpPr txBox="1"/>
          <p:nvPr/>
        </p:nvSpPr>
        <p:spPr>
          <a:xfrm>
            <a:off x="868680" y="3337560"/>
            <a:ext cx="2926080" cy="457200"/>
          </a:xfrm>
          <a:prstGeom prst="rect">
            <a:avLst/>
          </a:prstGeom>
          <a:noFill/>
          <a:ln/>
        </p:spPr>
        <p:txBody>
          <a:bodyPr wrap="square" lIns="0" tIns="0" rIns="0" bIns="0" rtlCol="0" anchor="t"/>
          <a:lstStyle/>
          <a:p>
            <a:pPr algn="l" indent="0" marL="0">
              <a:buNone/>
            </a:pPr>
            <a:r>
              <a:rPr lang="en-US" sz="2200" b="1" dirty="0">
                <a:solidFill>
                  <a:srgbClr val="0F2A33"/>
                </a:solidFill>
                <a:latin typeface="Cambria" pitchFamily="34" charset="0"/>
                <a:ea typeface="Cambria" pitchFamily="34" charset="-122"/>
                <a:cs typeface="Cambria" pitchFamily="34" charset="-120"/>
              </a:rPr>
              <a:t>Domain</a:t>
            </a:r>
            <a:endParaRPr lang="en-US" sz="2200" dirty="0"/>
          </a:p>
        </p:txBody>
      </p:sp>
      <p:sp>
        <p:nvSpPr>
          <p:cNvPr id="9" name="Text 5"/>
          <p:cNvSpPr txBox="1"/>
          <p:nvPr/>
        </p:nvSpPr>
        <p:spPr>
          <a:xfrm>
            <a:off x="868680" y="3886200"/>
            <a:ext cx="2926080" cy="1645920"/>
          </a:xfrm>
          <a:prstGeom prst="rect">
            <a:avLst/>
          </a:prstGeom>
          <a:noFill/>
          <a:ln/>
        </p:spPr>
        <p:txBody>
          <a:bodyPr wrap="square" lIns="0" tIns="0" rIns="0" bIns="0" rtlCol="0" anchor="t"/>
          <a:lstStyle/>
          <a:p>
            <a:pPr algn="l" indent="0" marL="0">
              <a:buNone/>
            </a:pPr>
            <a:r>
              <a:rPr lang="en-US" sz="1600" dirty="0">
                <a:solidFill>
                  <a:srgbClr val="1B2B33"/>
                </a:solidFill>
                <a:latin typeface="Calibri" pitchFamily="34" charset="0"/>
                <a:ea typeface="Calibri" pitchFamily="34" charset="-122"/>
                <a:cs typeface="Calibri" pitchFamily="34" charset="-120"/>
              </a:rPr>
              <a:t>Social Policy, Family Development, and Community Welfare.</a:t>
            </a:r>
            <a:endParaRPr lang="en-US" sz="1600" dirty="0"/>
          </a:p>
        </p:txBody>
      </p:sp>
      <p:sp>
        <p:nvSpPr>
          <p:cNvPr id="10" name="Shape 6"/>
          <p:cNvSpPr/>
          <p:nvPr/>
        </p:nvSpPr>
        <p:spPr>
          <a:xfrm>
            <a:off x="4389120" y="1737360"/>
            <a:ext cx="3566160" cy="365760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Shape 7"/>
          <p:cNvSpPr/>
          <p:nvPr/>
        </p:nvSpPr>
        <p:spPr>
          <a:xfrm>
            <a:off x="4709160" y="2103120"/>
            <a:ext cx="914400" cy="914400"/>
          </a:xfrm>
          <a:prstGeom prst="ellipse">
            <a:avLst/>
          </a:prstGeom>
          <a:solidFill>
            <a:srgbClr val="0F2A33"/>
          </a:solidFill>
          <a:ln/>
        </p:spPr>
      </p:sp>
      <p:pic>
        <p:nvPicPr>
          <p:cNvPr id="12" name="Image 1" descr="preencoded.png">    </p:cNvPr>
          <p:cNvPicPr>
            <a:picLocks noChangeAspect="1"/>
          </p:cNvPicPr>
          <p:nvPr/>
        </p:nvPicPr>
        <p:blipFill>
          <a:blip r:embed="rId2"/>
          <a:stretch>
            <a:fillRect/>
          </a:stretch>
        </p:blipFill>
        <p:spPr>
          <a:xfrm>
            <a:off x="4937760" y="2331720"/>
            <a:ext cx="457200" cy="457200"/>
          </a:xfrm>
          <a:prstGeom prst="rect">
            <a:avLst/>
          </a:prstGeom>
        </p:spPr>
      </p:pic>
      <p:sp>
        <p:nvSpPr>
          <p:cNvPr id="13" name="Text 8"/>
          <p:cNvSpPr txBox="1"/>
          <p:nvPr/>
        </p:nvSpPr>
        <p:spPr>
          <a:xfrm>
            <a:off x="4709160" y="3337560"/>
            <a:ext cx="2926080" cy="457200"/>
          </a:xfrm>
          <a:prstGeom prst="rect">
            <a:avLst/>
          </a:prstGeom>
          <a:noFill/>
          <a:ln/>
        </p:spPr>
        <p:txBody>
          <a:bodyPr wrap="square" lIns="0" tIns="0" rIns="0" bIns="0" rtlCol="0" anchor="t"/>
          <a:lstStyle/>
          <a:p>
            <a:pPr algn="l" indent="0" marL="0">
              <a:buNone/>
            </a:pPr>
            <a:r>
              <a:rPr lang="en-US" sz="2200" b="1" dirty="0">
                <a:solidFill>
                  <a:srgbClr val="0F2A33"/>
                </a:solidFill>
                <a:latin typeface="Cambria" pitchFamily="34" charset="0"/>
                <a:ea typeface="Cambria" pitchFamily="34" charset="-122"/>
                <a:cs typeface="Cambria" pitchFamily="34" charset="-120"/>
              </a:rPr>
              <a:t>Client / User Group</a:t>
            </a:r>
            <a:endParaRPr lang="en-US" sz="2200" dirty="0"/>
          </a:p>
        </p:txBody>
      </p:sp>
      <p:sp>
        <p:nvSpPr>
          <p:cNvPr id="14" name="Text 9"/>
          <p:cNvSpPr txBox="1"/>
          <p:nvPr/>
        </p:nvSpPr>
        <p:spPr>
          <a:xfrm>
            <a:off x="4709160" y="3886200"/>
            <a:ext cx="2926080" cy="1645920"/>
          </a:xfrm>
          <a:prstGeom prst="rect">
            <a:avLst/>
          </a:prstGeom>
          <a:noFill/>
          <a:ln/>
        </p:spPr>
        <p:txBody>
          <a:bodyPr wrap="square" lIns="0" tIns="0" rIns="0" bIns="0" rtlCol="0" anchor="t"/>
          <a:lstStyle/>
          <a:p>
            <a:pPr algn="l" indent="0" marL="0">
              <a:buNone/>
            </a:pPr>
            <a:r>
              <a:rPr lang="en-US" sz="1600" dirty="0">
                <a:solidFill>
                  <a:srgbClr val="1B2B33"/>
                </a:solidFill>
                <a:latin typeface="Calibri" pitchFamily="34" charset="0"/>
                <a:ea typeface="Calibri" pitchFamily="34" charset="-122"/>
                <a:cs typeface="Calibri" pitchFamily="34" charset="-120"/>
              </a:rPr>
              <a:t>Government agencies, social workers, NGOs, and educational policymakers.</a:t>
            </a:r>
            <a:endParaRPr lang="en-US" sz="1600" dirty="0"/>
          </a:p>
        </p:txBody>
      </p:sp>
      <p:sp>
        <p:nvSpPr>
          <p:cNvPr id="15" name="Shape 10"/>
          <p:cNvSpPr/>
          <p:nvPr/>
        </p:nvSpPr>
        <p:spPr>
          <a:xfrm>
            <a:off x="8229600" y="1737360"/>
            <a:ext cx="3566160" cy="365760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6" name="Shape 11"/>
          <p:cNvSpPr/>
          <p:nvPr/>
        </p:nvSpPr>
        <p:spPr>
          <a:xfrm>
            <a:off x="8549640" y="2103120"/>
            <a:ext cx="914400" cy="914400"/>
          </a:xfrm>
          <a:prstGeom prst="ellipse">
            <a:avLst/>
          </a:prstGeom>
          <a:solidFill>
            <a:srgbClr val="0F2A33"/>
          </a:solidFill>
          <a:ln/>
        </p:spPr>
      </p:sp>
      <p:pic>
        <p:nvPicPr>
          <p:cNvPr id="17" name="Image 2" descr="preencoded.png">    </p:cNvPr>
          <p:cNvPicPr>
            <a:picLocks noChangeAspect="1"/>
          </p:cNvPicPr>
          <p:nvPr/>
        </p:nvPicPr>
        <p:blipFill>
          <a:blip r:embed="rId3"/>
          <a:stretch>
            <a:fillRect/>
          </a:stretch>
        </p:blipFill>
        <p:spPr>
          <a:xfrm>
            <a:off x="8778240" y="2331720"/>
            <a:ext cx="457200" cy="457200"/>
          </a:xfrm>
          <a:prstGeom prst="rect">
            <a:avLst/>
          </a:prstGeom>
        </p:spPr>
      </p:pic>
      <p:sp>
        <p:nvSpPr>
          <p:cNvPr id="18" name="Text 12"/>
          <p:cNvSpPr txBox="1"/>
          <p:nvPr/>
        </p:nvSpPr>
        <p:spPr>
          <a:xfrm>
            <a:off x="8549640" y="3337560"/>
            <a:ext cx="2926080" cy="457200"/>
          </a:xfrm>
          <a:prstGeom prst="rect">
            <a:avLst/>
          </a:prstGeom>
          <a:noFill/>
          <a:ln/>
        </p:spPr>
        <p:txBody>
          <a:bodyPr wrap="square" lIns="0" tIns="0" rIns="0" bIns="0" rtlCol="0" anchor="t"/>
          <a:lstStyle/>
          <a:p>
            <a:pPr algn="l" indent="0" marL="0">
              <a:buNone/>
            </a:pPr>
            <a:r>
              <a:rPr lang="en-US" sz="2200" b="1" dirty="0">
                <a:solidFill>
                  <a:srgbClr val="0F2A33"/>
                </a:solidFill>
                <a:latin typeface="Cambria" pitchFamily="34" charset="0"/>
                <a:ea typeface="Cambria" pitchFamily="34" charset="-122"/>
                <a:cs typeface="Cambria" pitchFamily="34" charset="-120"/>
              </a:rPr>
              <a:t>Goal</a:t>
            </a:r>
            <a:endParaRPr lang="en-US" sz="2200" dirty="0"/>
          </a:p>
        </p:txBody>
      </p:sp>
      <p:sp>
        <p:nvSpPr>
          <p:cNvPr id="19" name="Text 13"/>
          <p:cNvSpPr txBox="1"/>
          <p:nvPr/>
        </p:nvSpPr>
        <p:spPr>
          <a:xfrm>
            <a:off x="8549640" y="3886200"/>
            <a:ext cx="2926080" cy="1645920"/>
          </a:xfrm>
          <a:prstGeom prst="rect">
            <a:avLst/>
          </a:prstGeom>
          <a:noFill/>
          <a:ln/>
        </p:spPr>
        <p:txBody>
          <a:bodyPr wrap="square" lIns="0" tIns="0" rIns="0" bIns="0" rtlCol="0" anchor="t"/>
          <a:lstStyle/>
          <a:p>
            <a:pPr algn="l" indent="0" marL="0">
              <a:buNone/>
            </a:pPr>
            <a:r>
              <a:rPr lang="en-US" sz="1600" dirty="0">
                <a:solidFill>
                  <a:srgbClr val="1B2B33"/>
                </a:solidFill>
                <a:latin typeface="Calibri" pitchFamily="34" charset="0"/>
                <a:ea typeface="Calibri" pitchFamily="34" charset="-122"/>
                <a:cs typeface="Calibri" pitchFamily="34" charset="-120"/>
              </a:rPr>
              <a:t>Provide insights to improve social support and reduce father absence rates through evidence-based strategies.</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4" name="Text 2"/>
          <p:cNvSpPr txBox="1"/>
          <p:nvPr/>
        </p:nvSpPr>
        <p:spPr>
          <a:xfrm>
            <a:off x="548640" y="1600200"/>
            <a:ext cx="6949440" cy="2743200"/>
          </a:xfrm>
          <a:prstGeom prst="rect">
            <a:avLst/>
          </a:prstGeom>
          <a:noFill/>
          <a:ln/>
        </p:spPr>
        <p:txBody>
          <a:bodyPr wrap="square" lIns="0" tIns="0" rIns="0" bIns="0" rtlCol="0" anchor="t"/>
          <a:lstStyle/>
          <a:p>
            <a:pPr algn="l" indent="0" marL="0">
              <a:buNone/>
            </a:pPr>
            <a:r>
              <a:rPr lang="en-US" sz="1800" i="1" dirty="0">
                <a:solidFill>
                  <a:srgbClr val="FFFFFF"/>
                </a:solidFill>
                <a:latin typeface="Cambria" pitchFamily="34" charset="0"/>
                <a:ea typeface="Cambria" pitchFamily="34" charset="-122"/>
                <a:cs typeface="Cambria" pitchFamily="34" charset="-120"/>
              </a:rPr>
              <a:t>“According to News24, absent fathers in households are a growing concern in South Africa. Over 50% of children in the country are raised by single mothers, while their fathers are alive but either inconsistently contribute or do not contribute at all to the household or child welfare. If the issue of fatherlessness is not addressed, it can become a major contributing factor to dysfunctional communities and lead to various social issues.”</a:t>
            </a:r>
            <a:endParaRPr lang="en-US" sz="1800" dirty="0"/>
          </a:p>
        </p:txBody>
      </p:sp>
      <p:sp>
        <p:nvSpPr>
          <p:cNvPr id="5" name="Text 3"/>
          <p:cNvSpPr txBox="1"/>
          <p:nvPr/>
        </p:nvSpPr>
        <p:spPr>
          <a:xfrm>
            <a:off x="8138160" y="1600200"/>
            <a:ext cx="3566160" cy="1371600"/>
          </a:xfrm>
          <a:prstGeom prst="rect">
            <a:avLst/>
          </a:prstGeom>
          <a:noFill/>
          <a:ln/>
        </p:spPr>
        <p:txBody>
          <a:bodyPr wrap="square" lIns="0" tIns="0" rIns="0" bIns="0" rtlCol="0" anchor="ctr"/>
          <a:lstStyle/>
          <a:p>
            <a:pPr algn="l" indent="0" marL="0">
              <a:buNone/>
            </a:pPr>
            <a:r>
              <a:rPr lang="en-US" sz="8000" b="1" dirty="0">
                <a:solidFill>
                  <a:srgbClr val="F2A03D"/>
                </a:solidFill>
                <a:latin typeface="Cambria" pitchFamily="34" charset="0"/>
                <a:ea typeface="Cambria" pitchFamily="34" charset="-122"/>
                <a:cs typeface="Cambria" pitchFamily="34" charset="-120"/>
              </a:rPr>
              <a:t>50%+</a:t>
            </a:r>
            <a:endParaRPr lang="en-US" sz="8000" dirty="0"/>
          </a:p>
        </p:txBody>
      </p:sp>
      <p:sp>
        <p:nvSpPr>
          <p:cNvPr id="6" name="Text 4"/>
          <p:cNvSpPr txBox="1"/>
          <p:nvPr/>
        </p:nvSpPr>
        <p:spPr>
          <a:xfrm>
            <a:off x="8138160" y="3017520"/>
            <a:ext cx="3474720" cy="914400"/>
          </a:xfrm>
          <a:prstGeom prst="rect">
            <a:avLst/>
          </a:prstGeom>
          <a:noFill/>
          <a:ln/>
        </p:spPr>
        <p:txBody>
          <a:bodyPr wrap="square" lIns="0" tIns="0" rIns="0" bIns="0" rtlCol="0" anchor="t"/>
          <a:lstStyle/>
          <a:p>
            <a:pPr algn="l" indent="0" marL="0">
              <a:buNone/>
            </a:pPr>
            <a:r>
              <a:rPr lang="en-US" sz="1800" dirty="0">
                <a:solidFill>
                  <a:srgbClr val="D5E4E7"/>
                </a:solidFill>
                <a:latin typeface="Calibri" pitchFamily="34" charset="0"/>
                <a:ea typeface="Calibri" pitchFamily="34" charset="-122"/>
                <a:cs typeface="Calibri" pitchFamily="34" charset="-120"/>
              </a:rPr>
              <a:t>of children in South Africa are raised by single mothers</a:t>
            </a:r>
            <a:endParaRPr lang="en-US" sz="1800" dirty="0"/>
          </a:p>
        </p:txBody>
      </p:sp>
      <p:sp>
        <p:nvSpPr>
          <p:cNvPr id="7" name="Shape 5"/>
          <p:cNvSpPr/>
          <p:nvPr/>
        </p:nvSpPr>
        <p:spPr>
          <a:xfrm>
            <a:off x="548640" y="4572000"/>
            <a:ext cx="11064240" cy="1691640"/>
          </a:xfrm>
          <a:prstGeom prst="roundRect">
            <a:avLst>
              <a:gd name="adj" fmla="val 6486"/>
            </a:avLst>
          </a:prstGeom>
          <a:solidFill>
            <a:srgbClr val="18424E"/>
          </a:solidFill>
          <a:ln/>
        </p:spPr>
      </p:sp>
      <p:sp>
        <p:nvSpPr>
          <p:cNvPr id="8" name="Shape 6"/>
          <p:cNvSpPr/>
          <p:nvPr/>
        </p:nvSpPr>
        <p:spPr>
          <a:xfrm>
            <a:off x="868680" y="5029200"/>
            <a:ext cx="777240" cy="777240"/>
          </a:xfrm>
          <a:prstGeom prst="ellipse">
            <a:avLst/>
          </a:prstGeom>
          <a:solidFill>
            <a:srgbClr val="F2A03D"/>
          </a:solidFill>
          <a:ln/>
        </p:spPr>
      </p:sp>
      <p:pic>
        <p:nvPicPr>
          <p:cNvPr id="9" name="Image 0" descr="preencoded.png">    </p:cNvPr>
          <p:cNvPicPr>
            <a:picLocks noChangeAspect="1"/>
          </p:cNvPicPr>
          <p:nvPr/>
        </p:nvPicPr>
        <p:blipFill>
          <a:blip r:embed="rId1"/>
          <a:stretch>
            <a:fillRect/>
          </a:stretch>
        </p:blipFill>
        <p:spPr>
          <a:xfrm>
            <a:off x="1062990" y="5223510"/>
            <a:ext cx="388620" cy="388620"/>
          </a:xfrm>
          <a:prstGeom prst="rect">
            <a:avLst/>
          </a:prstGeom>
        </p:spPr>
      </p:pic>
      <p:sp>
        <p:nvSpPr>
          <p:cNvPr id="10" name="Text 7"/>
          <p:cNvSpPr txBox="1"/>
          <p:nvPr/>
        </p:nvSpPr>
        <p:spPr>
          <a:xfrm>
            <a:off x="2011680" y="4754880"/>
            <a:ext cx="3657600" cy="256032"/>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THE GAP</a:t>
            </a:r>
            <a:endParaRPr lang="en-US" sz="1100" dirty="0"/>
          </a:p>
        </p:txBody>
      </p:sp>
      <p:sp>
        <p:nvSpPr>
          <p:cNvPr id="11" name="Text 8"/>
          <p:cNvSpPr txBox="1"/>
          <p:nvPr/>
        </p:nvSpPr>
        <p:spPr>
          <a:xfrm>
            <a:off x="2011680" y="5029200"/>
            <a:ext cx="9235440" cy="114300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There is a gap in the use of data-driven insights and machine learning to identify the key factors that influence the likelihood of a household having a father figure. This research seeks to bridge that gap by leveraging data science to provide deeper insights into this pressing issue.</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D5E4E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Literature Review</a:t>
            </a:r>
            <a:endParaRPr lang="en-US" sz="3200" dirty="0"/>
          </a:p>
        </p:txBody>
      </p:sp>
      <p:sp>
        <p:nvSpPr>
          <p:cNvPr id="4" name="Shape 2"/>
          <p:cNvSpPr/>
          <p:nvPr/>
        </p:nvSpPr>
        <p:spPr>
          <a:xfrm>
            <a:off x="548640" y="1508760"/>
            <a:ext cx="5486400" cy="3246120"/>
          </a:xfrm>
          <a:prstGeom prst="roundRect">
            <a:avLst>
              <a:gd name="adj" fmla="val 338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868680" y="1691640"/>
            <a:ext cx="2194560" cy="822960"/>
          </a:xfrm>
          <a:prstGeom prst="rect">
            <a:avLst/>
          </a:prstGeom>
          <a:noFill/>
          <a:ln/>
        </p:spPr>
        <p:txBody>
          <a:bodyPr wrap="square" lIns="0" tIns="0" rIns="0" bIns="0" rtlCol="0" anchor="ctr"/>
          <a:lstStyle/>
          <a:p>
            <a:pPr algn="l" indent="0" marL="0">
              <a:buNone/>
            </a:pPr>
            <a:r>
              <a:rPr lang="en-US" sz="4800" b="1" dirty="0">
                <a:solidFill>
                  <a:srgbClr val="1F7A80"/>
                </a:solidFill>
                <a:latin typeface="Cambria" pitchFamily="34" charset="0"/>
                <a:ea typeface="Cambria" pitchFamily="34" charset="-122"/>
                <a:cs typeface="Cambria" pitchFamily="34" charset="-120"/>
              </a:rPr>
              <a:t>60%+</a:t>
            </a:r>
            <a:endParaRPr lang="en-US" sz="4800" dirty="0"/>
          </a:p>
        </p:txBody>
      </p:sp>
      <p:sp>
        <p:nvSpPr>
          <p:cNvPr id="6" name="Text 4"/>
          <p:cNvSpPr txBox="1"/>
          <p:nvPr/>
        </p:nvSpPr>
        <p:spPr>
          <a:xfrm>
            <a:off x="2926080" y="1691640"/>
            <a:ext cx="2926080" cy="822960"/>
          </a:xfrm>
          <a:prstGeom prst="rect">
            <a:avLst/>
          </a:prstGeom>
          <a:noFill/>
          <a:ln/>
        </p:spPr>
        <p:txBody>
          <a:bodyPr wrap="square" lIns="0" tIns="0" rIns="0" bIns="0" rtlCol="0" anchor="ctr"/>
          <a:lstStyle/>
          <a:p>
            <a:pPr algn="l" indent="0" marL="0">
              <a:buNone/>
            </a:pPr>
            <a:r>
              <a:rPr lang="en-US" sz="1400" b="1" dirty="0">
                <a:solidFill>
                  <a:srgbClr val="0F2A33"/>
                </a:solidFill>
                <a:latin typeface="Calibri" pitchFamily="34" charset="0"/>
                <a:ea typeface="Calibri" pitchFamily="34" charset="-122"/>
                <a:cs typeface="Calibri" pitchFamily="34" charset="-120"/>
              </a:rPr>
              <a:t>of children don’t live with their biological fathers</a:t>
            </a:r>
            <a:endParaRPr lang="en-US" sz="1400" dirty="0"/>
          </a:p>
        </p:txBody>
      </p:sp>
      <p:sp>
        <p:nvSpPr>
          <p:cNvPr id="7" name="Text 5"/>
          <p:cNvSpPr txBox="1"/>
          <p:nvPr/>
        </p:nvSpPr>
        <p:spPr>
          <a:xfrm>
            <a:off x="868680" y="2651760"/>
            <a:ext cx="4846320" cy="1691640"/>
          </a:xfrm>
          <a:prstGeom prst="rect">
            <a:avLst/>
          </a:prstGeom>
          <a:noFill/>
          <a:ln/>
        </p:spPr>
        <p:txBody>
          <a:bodyPr wrap="square" lIns="0" tIns="0" rIns="0" bIns="0" rtlCol="0" anchor="t"/>
          <a:lstStyle/>
          <a:p>
            <a:pPr algn="l" indent="0" marL="0">
              <a:buNone/>
            </a:pPr>
            <a:r>
              <a:rPr lang="en-US" sz="1450" i="1" dirty="0">
                <a:solidFill>
                  <a:srgbClr val="1B2B33"/>
                </a:solidFill>
                <a:latin typeface="Calibri" pitchFamily="34" charset="0"/>
                <a:ea typeface="Calibri" pitchFamily="34" charset="-122"/>
                <a:cs typeface="Calibri" pitchFamily="34" charset="-120"/>
              </a:rPr>
              <a:t>“According to the Human Sciences Research Council, most children in South Africa — over 60% — don’t live with their biological fathers. And 20% only have contact with their biological father twice a week. This isn’t to suggest that they don’t have other male figures in their lives, but it does point to an imbalance in the distribution of parental responsibilities.”</a:t>
            </a:r>
            <a:endParaRPr lang="en-US" sz="1450" dirty="0"/>
          </a:p>
        </p:txBody>
      </p:sp>
      <p:sp>
        <p:nvSpPr>
          <p:cNvPr id="8" name="Text 6"/>
          <p:cNvSpPr txBox="1"/>
          <p:nvPr/>
        </p:nvSpPr>
        <p:spPr>
          <a:xfrm>
            <a:off x="868680" y="4389120"/>
            <a:ext cx="4846320" cy="256032"/>
          </a:xfrm>
          <a:prstGeom prst="rect">
            <a:avLst/>
          </a:prstGeom>
          <a:noFill/>
          <a:ln/>
        </p:spPr>
        <p:txBody>
          <a:bodyPr wrap="square" lIns="0" tIns="0" rIns="0" bIns="0" rtlCol="0" anchor="t"/>
          <a:lstStyle/>
          <a:p>
            <a:pPr algn="l" indent="0" marL="0">
              <a:buNone/>
            </a:pPr>
            <a:r>
              <a:rPr lang="en-US" sz="1100" dirty="0">
                <a:solidFill>
                  <a:srgbClr val="5B6D75"/>
                </a:solidFill>
                <a:latin typeface="Calibri" pitchFamily="34" charset="0"/>
                <a:ea typeface="Calibri" pitchFamily="34" charset="-122"/>
                <a:cs typeface="Calibri" pitchFamily="34" charset="-120"/>
              </a:rPr>
              <a:t>Source: Daily Maverick</a:t>
            </a:r>
            <a:endParaRPr lang="en-US" sz="1100" dirty="0"/>
          </a:p>
        </p:txBody>
      </p:sp>
      <p:sp>
        <p:nvSpPr>
          <p:cNvPr id="9" name="Shape 7"/>
          <p:cNvSpPr/>
          <p:nvPr/>
        </p:nvSpPr>
        <p:spPr>
          <a:xfrm>
            <a:off x="6263640" y="1508760"/>
            <a:ext cx="5349240" cy="3246120"/>
          </a:xfrm>
          <a:prstGeom prst="roundRect">
            <a:avLst>
              <a:gd name="adj" fmla="val 338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737360"/>
            <a:ext cx="731520" cy="731520"/>
          </a:xfrm>
          <a:prstGeom prst="ellipse">
            <a:avLst/>
          </a:prstGeom>
          <a:solidFill>
            <a:srgbClr val="FDF0DC"/>
          </a:solidFill>
          <a:ln/>
        </p:spPr>
      </p:sp>
      <p:pic>
        <p:nvPicPr>
          <p:cNvPr id="11" name="Image 0" descr="preencoded.png">    </p:cNvPr>
          <p:cNvPicPr>
            <a:picLocks noChangeAspect="1"/>
          </p:cNvPicPr>
          <p:nvPr/>
        </p:nvPicPr>
        <p:blipFill>
          <a:blip r:embed="rId1"/>
          <a:stretch>
            <a:fillRect/>
          </a:stretch>
        </p:blipFill>
        <p:spPr>
          <a:xfrm>
            <a:off x="6766560" y="1920240"/>
            <a:ext cx="365760" cy="365760"/>
          </a:xfrm>
          <a:prstGeom prst="rect">
            <a:avLst/>
          </a:prstGeom>
        </p:spPr>
      </p:pic>
      <p:sp>
        <p:nvSpPr>
          <p:cNvPr id="12" name="Text 9"/>
          <p:cNvSpPr txBox="1"/>
          <p:nvPr/>
        </p:nvSpPr>
        <p:spPr>
          <a:xfrm>
            <a:off x="7498080" y="1737360"/>
            <a:ext cx="3931920" cy="73152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A cycle across generations</a:t>
            </a:r>
            <a:endParaRPr lang="en-US" sz="1600" dirty="0"/>
          </a:p>
        </p:txBody>
      </p:sp>
      <p:sp>
        <p:nvSpPr>
          <p:cNvPr id="13" name="Text 10"/>
          <p:cNvSpPr txBox="1"/>
          <p:nvPr/>
        </p:nvSpPr>
        <p:spPr>
          <a:xfrm>
            <a:off x="6583680" y="2743200"/>
            <a:ext cx="4709160" cy="1554480"/>
          </a:xfrm>
          <a:prstGeom prst="rect">
            <a:avLst/>
          </a:prstGeom>
          <a:noFill/>
          <a:ln/>
        </p:spPr>
        <p:txBody>
          <a:bodyPr wrap="square" lIns="0" tIns="0" rIns="0" bIns="0" rtlCol="0" anchor="t"/>
          <a:lstStyle/>
          <a:p>
            <a:pPr algn="l" indent="0" marL="0">
              <a:buNone/>
            </a:pPr>
            <a:r>
              <a:rPr lang="en-US" sz="1600" i="1" dirty="0">
                <a:solidFill>
                  <a:srgbClr val="1B2B33"/>
                </a:solidFill>
                <a:latin typeface="Calibri" pitchFamily="34" charset="0"/>
                <a:ea typeface="Calibri" pitchFamily="34" charset="-122"/>
                <a:cs typeface="Calibri" pitchFamily="34" charset="-120"/>
              </a:rPr>
              <a:t>“Many men who are absent fathers had absent fathers themselves. Since they’ve never experienced the advantages of a present male figure, they don’t know what these advantages are — or how to pass them on.”</a:t>
            </a:r>
            <a:endParaRPr lang="en-US" sz="1600" dirty="0"/>
          </a:p>
        </p:txBody>
      </p:sp>
      <p:sp>
        <p:nvSpPr>
          <p:cNvPr id="14" name="Text 11"/>
          <p:cNvSpPr txBox="1"/>
          <p:nvPr/>
        </p:nvSpPr>
        <p:spPr>
          <a:xfrm>
            <a:off x="6583680" y="4389120"/>
            <a:ext cx="4709160" cy="256032"/>
          </a:xfrm>
          <a:prstGeom prst="rect">
            <a:avLst/>
          </a:prstGeom>
          <a:noFill/>
          <a:ln/>
        </p:spPr>
        <p:txBody>
          <a:bodyPr wrap="square" lIns="0" tIns="0" rIns="0" bIns="0" rtlCol="0" anchor="t"/>
          <a:lstStyle/>
          <a:p>
            <a:pPr algn="l" indent="0" marL="0">
              <a:buNone/>
            </a:pPr>
            <a:r>
              <a:rPr lang="en-US" sz="1100" dirty="0">
                <a:solidFill>
                  <a:srgbClr val="5B6D75"/>
                </a:solidFill>
                <a:latin typeface="Calibri" pitchFamily="34" charset="0"/>
                <a:ea typeface="Calibri" pitchFamily="34" charset="-122"/>
                <a:cs typeface="Calibri" pitchFamily="34" charset="-120"/>
              </a:rPr>
              <a:t>Source: Daily Maverick</a:t>
            </a:r>
            <a:endParaRPr lang="en-US" sz="1100" dirty="0"/>
          </a:p>
        </p:txBody>
      </p:sp>
      <p:sp>
        <p:nvSpPr>
          <p:cNvPr id="15" name="Shape 12"/>
          <p:cNvSpPr/>
          <p:nvPr/>
        </p:nvSpPr>
        <p:spPr>
          <a:xfrm>
            <a:off x="548640" y="5029200"/>
            <a:ext cx="11064240" cy="1188720"/>
          </a:xfrm>
          <a:prstGeom prst="roundRect">
            <a:avLst>
              <a:gd name="adj" fmla="val 9231"/>
            </a:avLst>
          </a:prstGeom>
          <a:solidFill>
            <a:srgbClr val="0F2A33"/>
          </a:solidFill>
          <a:ln/>
        </p:spPr>
      </p:sp>
      <p:sp>
        <p:nvSpPr>
          <p:cNvPr id="16" name="Text 13"/>
          <p:cNvSpPr txBox="1"/>
          <p:nvPr/>
        </p:nvSpPr>
        <p:spPr>
          <a:xfrm>
            <a:off x="914400" y="5029200"/>
            <a:ext cx="10332720" cy="1188720"/>
          </a:xfrm>
          <a:prstGeom prst="rect">
            <a:avLst/>
          </a:prstGeom>
          <a:noFill/>
          <a:ln/>
        </p:spPr>
        <p:txBody>
          <a:bodyPr wrap="square" lIns="0" tIns="0" rIns="0" bIns="0"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While the consequences of fatherlessness in South Africa have been explored in various studies, there is limited empirical data on the specific factors that contribute to this issue.</a:t>
            </a:r>
            <a:endParaRPr lang="en-US" sz="18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Relevant Research Studies</a:t>
            </a:r>
            <a:endParaRPr lang="en-US" sz="3200" dirty="0"/>
          </a:p>
        </p:txBody>
      </p:sp>
      <p:sp>
        <p:nvSpPr>
          <p:cNvPr id="4" name="Text 2"/>
          <p:cNvSpPr txBox="1"/>
          <p:nvPr/>
        </p:nvSpPr>
        <p:spPr>
          <a:xfrm>
            <a:off x="548640" y="1371600"/>
            <a:ext cx="11064240" cy="502920"/>
          </a:xfrm>
          <a:prstGeom prst="rect">
            <a:avLst/>
          </a:prstGeom>
          <a:noFill/>
          <a:ln/>
        </p:spPr>
        <p:txBody>
          <a:bodyPr wrap="square" lIns="0" tIns="0" rIns="0" bIns="0" rtlCol="0" anchor="ctr"/>
          <a:lstStyle/>
          <a:p>
            <a:pPr algn="l" indent="0" marL="0">
              <a:buNone/>
            </a:pPr>
            <a:r>
              <a:rPr lang="en-US" sz="1600" i="1" dirty="0">
                <a:solidFill>
                  <a:srgbClr val="5B6D75"/>
                </a:solidFill>
                <a:latin typeface="Calibri" pitchFamily="34" charset="0"/>
                <a:ea typeface="Calibri" pitchFamily="34" charset="-122"/>
                <a:cs typeface="Calibri" pitchFamily="34" charset="-120"/>
              </a:rPr>
              <a:t>So many studies have been done on this issue. A study of absent fathers in Johannesburg, South Africa in 2013 stood out to me.</a:t>
            </a:r>
            <a:endParaRPr lang="en-US" sz="1600" dirty="0"/>
          </a:p>
        </p:txBody>
      </p:sp>
      <p:sp>
        <p:nvSpPr>
          <p:cNvPr id="5" name="Shape 3"/>
          <p:cNvSpPr/>
          <p:nvPr/>
        </p:nvSpPr>
        <p:spPr>
          <a:xfrm>
            <a:off x="548640" y="2057400"/>
            <a:ext cx="3200400" cy="4251960"/>
          </a:xfrm>
          <a:prstGeom prst="roundRect">
            <a:avLst>
              <a:gd name="adj" fmla="val 3429"/>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6" name="Text 4"/>
          <p:cNvSpPr txBox="1"/>
          <p:nvPr/>
        </p:nvSpPr>
        <p:spPr>
          <a:xfrm>
            <a:off x="822960" y="2286000"/>
            <a:ext cx="2743200" cy="365760"/>
          </a:xfrm>
          <a:prstGeom prst="rect">
            <a:avLst/>
          </a:prstGeom>
          <a:noFill/>
          <a:ln/>
        </p:spPr>
        <p:txBody>
          <a:bodyPr wrap="square" lIns="0" tIns="0" rIns="0" bIns="0" rtlCol="0" anchor="t"/>
          <a:lstStyle/>
          <a:p>
            <a:pPr algn="l" indent="0" marL="0">
              <a:buNone/>
            </a:pPr>
            <a:r>
              <a:rPr lang="en-US" sz="2000" b="1" dirty="0">
                <a:solidFill>
                  <a:srgbClr val="0F2A33"/>
                </a:solidFill>
                <a:latin typeface="Cambria" pitchFamily="34" charset="0"/>
                <a:ea typeface="Cambria" pitchFamily="34" charset="-122"/>
                <a:cs typeface="Cambria" pitchFamily="34" charset="-120"/>
              </a:rPr>
              <a:t>Key themes</a:t>
            </a:r>
            <a:endParaRPr lang="en-US" sz="2000" dirty="0"/>
          </a:p>
        </p:txBody>
      </p:sp>
      <p:sp>
        <p:nvSpPr>
          <p:cNvPr id="7" name="Text 5"/>
          <p:cNvSpPr txBox="1"/>
          <p:nvPr/>
        </p:nvSpPr>
        <p:spPr>
          <a:xfrm>
            <a:off x="822960" y="2743200"/>
            <a:ext cx="2697480" cy="548640"/>
          </a:xfrm>
          <a:prstGeom prst="rect">
            <a:avLst/>
          </a:prstGeom>
          <a:noFill/>
          <a:ln/>
        </p:spPr>
        <p:txBody>
          <a:bodyPr wrap="square" lIns="0" tIns="0" rIns="0" bIns="0" rtlCol="0" anchor="t"/>
          <a:lstStyle/>
          <a:p>
            <a:pPr algn="l" indent="0" marL="0">
              <a:buNone/>
            </a:pPr>
            <a:r>
              <a:rPr lang="en-US" sz="1250" dirty="0">
                <a:solidFill>
                  <a:srgbClr val="5B6D75"/>
                </a:solidFill>
                <a:latin typeface="Calibri" pitchFamily="34" charset="0"/>
                <a:ea typeface="Calibri" pitchFamily="34" charset="-122"/>
                <a:cs typeface="Calibri" pitchFamily="34" charset="-120"/>
              </a:rPr>
              <a:t>Four themes were provided in the research:</a:t>
            </a:r>
            <a:endParaRPr lang="en-US" sz="1250" dirty="0"/>
          </a:p>
        </p:txBody>
      </p:sp>
      <p:sp>
        <p:nvSpPr>
          <p:cNvPr id="8" name="Text 6"/>
          <p:cNvSpPr/>
          <p:nvPr/>
        </p:nvSpPr>
        <p:spPr>
          <a:xfrm>
            <a:off x="822960" y="342900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371600" y="3383280"/>
            <a:ext cx="2194560" cy="548640"/>
          </a:xfrm>
          <a:prstGeom prst="rect">
            <a:avLst/>
          </a:prstGeom>
          <a:noFill/>
          <a:ln/>
        </p:spPr>
        <p:txBody>
          <a:bodyPr wrap="square" lIns="0" tIns="0" rIns="0" bIns="0" rtlCol="0" anchor="ctr"/>
          <a:lstStyle/>
          <a:p>
            <a:pPr algn="l" indent="0" marL="0">
              <a:buNone/>
            </a:pPr>
            <a:r>
              <a:rPr lang="en-US" sz="1400" b="1" dirty="0">
                <a:solidFill>
                  <a:srgbClr val="0F2A33"/>
                </a:solidFill>
                <a:latin typeface="Calibri" pitchFamily="34" charset="0"/>
                <a:ea typeface="Calibri" pitchFamily="34" charset="-122"/>
                <a:cs typeface="Calibri" pitchFamily="34" charset="-120"/>
              </a:rPr>
              <a:t>Fatherhood conception</a:t>
            </a:r>
            <a:endParaRPr lang="en-US" sz="1400" dirty="0"/>
          </a:p>
        </p:txBody>
      </p:sp>
      <p:sp>
        <p:nvSpPr>
          <p:cNvPr id="10" name="Text 8"/>
          <p:cNvSpPr/>
          <p:nvPr/>
        </p:nvSpPr>
        <p:spPr>
          <a:xfrm>
            <a:off x="822960" y="411480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371600" y="4069080"/>
            <a:ext cx="2194560" cy="548640"/>
          </a:xfrm>
          <a:prstGeom prst="rect">
            <a:avLst/>
          </a:prstGeom>
          <a:noFill/>
          <a:ln/>
        </p:spPr>
        <p:txBody>
          <a:bodyPr wrap="square" lIns="0" tIns="0" rIns="0" bIns="0" rtlCol="0" anchor="ctr"/>
          <a:lstStyle/>
          <a:p>
            <a:pPr algn="l" indent="0" marL="0">
              <a:buNone/>
            </a:pPr>
            <a:r>
              <a:rPr lang="en-US" sz="1400" b="1" dirty="0">
                <a:solidFill>
                  <a:srgbClr val="0F2A33"/>
                </a:solidFill>
                <a:latin typeface="Calibri" pitchFamily="34" charset="0"/>
                <a:ea typeface="Calibri" pitchFamily="34" charset="-122"/>
                <a:cs typeface="Calibri" pitchFamily="34" charset="-120"/>
              </a:rPr>
              <a:t>The cause</a:t>
            </a:r>
            <a:endParaRPr lang="en-US" sz="1400" dirty="0"/>
          </a:p>
        </p:txBody>
      </p:sp>
      <p:sp>
        <p:nvSpPr>
          <p:cNvPr id="12" name="Text 10"/>
          <p:cNvSpPr/>
          <p:nvPr/>
        </p:nvSpPr>
        <p:spPr>
          <a:xfrm>
            <a:off x="822960" y="480060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1371600" y="4754880"/>
            <a:ext cx="2194560" cy="548640"/>
          </a:xfrm>
          <a:prstGeom prst="rect">
            <a:avLst/>
          </a:prstGeom>
          <a:noFill/>
          <a:ln/>
        </p:spPr>
        <p:txBody>
          <a:bodyPr wrap="square" lIns="0" tIns="0" rIns="0" bIns="0" rtlCol="0" anchor="ctr"/>
          <a:lstStyle/>
          <a:p>
            <a:pPr algn="l" indent="0" marL="0">
              <a:buNone/>
            </a:pPr>
            <a:r>
              <a:rPr lang="en-US" sz="1400" b="1" dirty="0">
                <a:solidFill>
                  <a:srgbClr val="0F2A33"/>
                </a:solidFill>
                <a:latin typeface="Calibri" pitchFamily="34" charset="0"/>
                <a:ea typeface="Calibri" pitchFamily="34" charset="-122"/>
                <a:cs typeface="Calibri" pitchFamily="34" charset="-120"/>
              </a:rPr>
              <a:t>Fathers’ perception of the consequences of their absence</a:t>
            </a:r>
            <a:endParaRPr lang="en-US" sz="1400" dirty="0"/>
          </a:p>
        </p:txBody>
      </p:sp>
      <p:sp>
        <p:nvSpPr>
          <p:cNvPr id="14" name="Text 12"/>
          <p:cNvSpPr/>
          <p:nvPr/>
        </p:nvSpPr>
        <p:spPr>
          <a:xfrm>
            <a:off x="822960" y="548640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371600" y="5440680"/>
            <a:ext cx="2194560" cy="548640"/>
          </a:xfrm>
          <a:prstGeom prst="rect">
            <a:avLst/>
          </a:prstGeom>
          <a:noFill/>
          <a:ln/>
        </p:spPr>
        <p:txBody>
          <a:bodyPr wrap="square" lIns="0" tIns="0" rIns="0" bIns="0" rtlCol="0" anchor="ctr"/>
          <a:lstStyle/>
          <a:p>
            <a:pPr algn="l" indent="0" marL="0">
              <a:buNone/>
            </a:pPr>
            <a:r>
              <a:rPr lang="en-US" sz="1400" b="1" dirty="0">
                <a:solidFill>
                  <a:srgbClr val="0F2A33"/>
                </a:solidFill>
                <a:latin typeface="Calibri" pitchFamily="34" charset="0"/>
                <a:ea typeface="Calibri" pitchFamily="34" charset="-122"/>
                <a:cs typeface="Calibri" pitchFamily="34" charset="-120"/>
              </a:rPr>
              <a:t>Recommendations to address the matter</a:t>
            </a:r>
            <a:endParaRPr lang="en-US" sz="1400" dirty="0"/>
          </a:p>
        </p:txBody>
      </p:sp>
      <p:sp>
        <p:nvSpPr>
          <p:cNvPr id="16" name="Shape 14"/>
          <p:cNvSpPr/>
          <p:nvPr/>
        </p:nvSpPr>
        <p:spPr>
          <a:xfrm>
            <a:off x="3977640" y="2057400"/>
            <a:ext cx="5120640" cy="4251960"/>
          </a:xfrm>
          <a:prstGeom prst="roundRect">
            <a:avLst>
              <a:gd name="adj" fmla="val 258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7" name="Text 15"/>
          <p:cNvSpPr txBox="1"/>
          <p:nvPr/>
        </p:nvSpPr>
        <p:spPr>
          <a:xfrm>
            <a:off x="4251960" y="2286000"/>
            <a:ext cx="4572000" cy="365760"/>
          </a:xfrm>
          <a:prstGeom prst="rect">
            <a:avLst/>
          </a:prstGeom>
          <a:noFill/>
          <a:ln/>
        </p:spPr>
        <p:txBody>
          <a:bodyPr wrap="square" lIns="0" tIns="0" rIns="0" bIns="0" rtlCol="0" anchor="t"/>
          <a:lstStyle/>
          <a:p>
            <a:pPr algn="l" indent="0" marL="0">
              <a:buNone/>
            </a:pPr>
            <a:r>
              <a:rPr lang="en-US" sz="2000" b="1" dirty="0">
                <a:solidFill>
                  <a:srgbClr val="0F2A33"/>
                </a:solidFill>
                <a:latin typeface="Cambria" pitchFamily="34" charset="0"/>
                <a:ea typeface="Cambria" pitchFamily="34" charset="-122"/>
                <a:cs typeface="Cambria" pitchFamily="34" charset="-120"/>
              </a:rPr>
              <a:t>Methodologies comparison</a:t>
            </a:r>
            <a:endParaRPr lang="en-US" sz="2000" dirty="0"/>
          </a:p>
        </p:txBody>
      </p:sp>
      <p:sp>
        <p:nvSpPr>
          <p:cNvPr id="18" name="Shape 16"/>
          <p:cNvSpPr/>
          <p:nvPr/>
        </p:nvSpPr>
        <p:spPr>
          <a:xfrm>
            <a:off x="4251960" y="2834640"/>
            <a:ext cx="2286000" cy="3200400"/>
          </a:xfrm>
          <a:prstGeom prst="roundRect">
            <a:avLst>
              <a:gd name="adj" fmla="val 4800"/>
            </a:avLst>
          </a:prstGeom>
          <a:solidFill>
            <a:srgbClr val="F5F8F8"/>
          </a:solidFill>
          <a:ln/>
        </p:spPr>
      </p:sp>
      <p:sp>
        <p:nvSpPr>
          <p:cNvPr id="19" name="Text 17"/>
          <p:cNvSpPr txBox="1"/>
          <p:nvPr/>
        </p:nvSpPr>
        <p:spPr>
          <a:xfrm>
            <a:off x="4434840" y="2971800"/>
            <a:ext cx="2011680" cy="228600"/>
          </a:xfrm>
          <a:prstGeom prst="rect">
            <a:avLst/>
          </a:prstGeom>
          <a:noFill/>
          <a:ln/>
        </p:spPr>
        <p:txBody>
          <a:bodyPr wrap="square" lIns="0" tIns="0" rIns="0" bIns="0" rtlCol="0" anchor="t"/>
          <a:lstStyle/>
          <a:p>
            <a:pPr algn="l" indent="0" marL="0">
              <a:buNone/>
            </a:pPr>
            <a:r>
              <a:rPr lang="en-US" sz="1050" b="1" spc="200" kern="0" dirty="0">
                <a:solidFill>
                  <a:srgbClr val="5B6D75"/>
                </a:solidFill>
                <a:latin typeface="Calibri" pitchFamily="34" charset="0"/>
                <a:ea typeface="Calibri" pitchFamily="34" charset="-122"/>
                <a:cs typeface="Calibri" pitchFamily="34" charset="-120"/>
              </a:rPr>
              <a:t>2013 STUDY</a:t>
            </a:r>
            <a:endParaRPr lang="en-US" sz="1050" dirty="0"/>
          </a:p>
        </p:txBody>
      </p:sp>
      <p:sp>
        <p:nvSpPr>
          <p:cNvPr id="20" name="Text 18"/>
          <p:cNvSpPr txBox="1"/>
          <p:nvPr/>
        </p:nvSpPr>
        <p:spPr>
          <a:xfrm>
            <a:off x="4434840" y="3246120"/>
            <a:ext cx="1965960" cy="265176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Qualitative, exploratory-descriptive design. Targeted fathers aged 15–35 who were absent in the life of at least one of their children. Conducted in Alexandra, Doornkop, Thembisa and Devland with 15 participants each.</a:t>
            </a:r>
            <a:endParaRPr lang="en-US" sz="1300" dirty="0"/>
          </a:p>
        </p:txBody>
      </p:sp>
      <p:sp>
        <p:nvSpPr>
          <p:cNvPr id="21" name="Shape 19"/>
          <p:cNvSpPr/>
          <p:nvPr/>
        </p:nvSpPr>
        <p:spPr>
          <a:xfrm>
            <a:off x="6675120" y="2834640"/>
            <a:ext cx="2194560" cy="3200400"/>
          </a:xfrm>
          <a:prstGeom prst="roundRect">
            <a:avLst>
              <a:gd name="adj" fmla="val 5000"/>
            </a:avLst>
          </a:prstGeom>
          <a:solidFill>
            <a:srgbClr val="E2F0F1"/>
          </a:solidFill>
          <a:ln/>
        </p:spPr>
      </p:sp>
      <p:sp>
        <p:nvSpPr>
          <p:cNvPr id="22" name="Text 20"/>
          <p:cNvSpPr txBox="1"/>
          <p:nvPr/>
        </p:nvSpPr>
        <p:spPr>
          <a:xfrm>
            <a:off x="6858000" y="2971800"/>
            <a:ext cx="1920240" cy="228600"/>
          </a:xfrm>
          <a:prstGeom prst="rect">
            <a:avLst/>
          </a:prstGeom>
          <a:noFill/>
          <a:ln/>
        </p:spPr>
        <p:txBody>
          <a:bodyPr wrap="square" lIns="0" tIns="0" rIns="0" bIns="0" rtlCol="0" anchor="t"/>
          <a:lstStyle/>
          <a:p>
            <a:pPr algn="l" indent="0" marL="0">
              <a:buNone/>
            </a:pPr>
            <a:r>
              <a:rPr lang="en-US" sz="1050" b="1" spc="200" kern="0" dirty="0">
                <a:solidFill>
                  <a:srgbClr val="1F7A80"/>
                </a:solidFill>
                <a:latin typeface="Calibri" pitchFamily="34" charset="0"/>
                <a:ea typeface="Calibri" pitchFamily="34" charset="-122"/>
                <a:cs typeface="Calibri" pitchFamily="34" charset="-120"/>
              </a:rPr>
              <a:t>THIS RESEARCH</a:t>
            </a:r>
            <a:endParaRPr lang="en-US" sz="1050" dirty="0"/>
          </a:p>
        </p:txBody>
      </p:sp>
      <p:sp>
        <p:nvSpPr>
          <p:cNvPr id="23" name="Text 21"/>
          <p:cNvSpPr txBox="1"/>
          <p:nvPr/>
        </p:nvSpPr>
        <p:spPr>
          <a:xfrm>
            <a:off x="6858000" y="3246120"/>
            <a:ext cx="1828800" cy="265176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Data-driven insights and machine learning to find the major contributors to fatherlessness in the country, using a general household survey.</a:t>
            </a:r>
            <a:endParaRPr lang="en-US" sz="1300" dirty="0"/>
          </a:p>
        </p:txBody>
      </p:sp>
      <p:sp>
        <p:nvSpPr>
          <p:cNvPr id="24" name="Shape 22"/>
          <p:cNvSpPr/>
          <p:nvPr/>
        </p:nvSpPr>
        <p:spPr>
          <a:xfrm>
            <a:off x="9326880" y="2057400"/>
            <a:ext cx="2286000" cy="4251960"/>
          </a:xfrm>
          <a:prstGeom prst="roundRect">
            <a:avLst>
              <a:gd name="adj" fmla="val 4800"/>
            </a:avLst>
          </a:prstGeom>
          <a:solidFill>
            <a:srgbClr val="0F2A33"/>
          </a:solidFill>
          <a:ln/>
        </p:spPr>
      </p:sp>
      <p:sp>
        <p:nvSpPr>
          <p:cNvPr id="25" name="Shape 23"/>
          <p:cNvSpPr/>
          <p:nvPr/>
        </p:nvSpPr>
        <p:spPr>
          <a:xfrm>
            <a:off x="9601200" y="2331720"/>
            <a:ext cx="640080" cy="640080"/>
          </a:xfrm>
          <a:prstGeom prst="ellipse">
            <a:avLst/>
          </a:prstGeom>
          <a:solidFill>
            <a:srgbClr val="F2A03D"/>
          </a:solidFill>
          <a:ln/>
        </p:spPr>
      </p:sp>
      <p:pic>
        <p:nvPicPr>
          <p:cNvPr id="26" name="Image 0" descr="preencoded.png">    </p:cNvPr>
          <p:cNvPicPr>
            <a:picLocks noChangeAspect="1"/>
          </p:cNvPicPr>
          <p:nvPr/>
        </p:nvPicPr>
        <p:blipFill>
          <a:blip r:embed="rId1"/>
          <a:stretch>
            <a:fillRect/>
          </a:stretch>
        </p:blipFill>
        <p:spPr>
          <a:xfrm>
            <a:off x="9761220" y="2491740"/>
            <a:ext cx="320040" cy="320040"/>
          </a:xfrm>
          <a:prstGeom prst="rect">
            <a:avLst/>
          </a:prstGeom>
        </p:spPr>
      </p:pic>
      <p:sp>
        <p:nvSpPr>
          <p:cNvPr id="27" name="Text 24"/>
          <p:cNvSpPr txBox="1"/>
          <p:nvPr/>
        </p:nvSpPr>
        <p:spPr>
          <a:xfrm>
            <a:off x="9601200" y="3108960"/>
            <a:ext cx="1828800" cy="54864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Gaps in literature</a:t>
            </a:r>
            <a:endParaRPr lang="en-US" sz="1700" dirty="0"/>
          </a:p>
        </p:txBody>
      </p:sp>
      <p:sp>
        <p:nvSpPr>
          <p:cNvPr id="28" name="Text 25"/>
          <p:cNvSpPr txBox="1"/>
          <p:nvPr/>
        </p:nvSpPr>
        <p:spPr>
          <a:xfrm>
            <a:off x="9601200" y="3749040"/>
            <a:ext cx="1783080" cy="2468880"/>
          </a:xfrm>
          <a:prstGeom prst="rect">
            <a:avLst/>
          </a:prstGeom>
          <a:noFill/>
          <a:ln/>
        </p:spPr>
        <p:txBody>
          <a:bodyPr wrap="square" lIns="0" tIns="0" rIns="0" bIns="0" rtlCol="0" anchor="t"/>
          <a:lstStyle/>
          <a:p>
            <a:pPr algn="l" indent="0" marL="0">
              <a:buNone/>
            </a:pPr>
            <a:r>
              <a:rPr lang="en-US" sz="1300" dirty="0">
                <a:solidFill>
                  <a:srgbClr val="D5E4E7"/>
                </a:solidFill>
                <a:latin typeface="Calibri" pitchFamily="34" charset="0"/>
                <a:ea typeface="Calibri" pitchFamily="34" charset="-122"/>
                <a:cs typeface="Calibri" pitchFamily="34" charset="-120"/>
              </a:rPr>
              <a:t>Previous research has fallen short of using machine learning. This research could contribute by using supervised classification to predict whether a household is managed by a father figure, “Yes” or “No”.</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In-Scope &amp; Out-of-Scope</a:t>
            </a:r>
            <a:endParaRPr lang="en-US" sz="3200" dirty="0"/>
          </a:p>
        </p:txBody>
      </p:sp>
      <p:sp>
        <p:nvSpPr>
          <p:cNvPr id="4" name="Shape 2"/>
          <p:cNvSpPr/>
          <p:nvPr/>
        </p:nvSpPr>
        <p:spPr>
          <a:xfrm>
            <a:off x="548640" y="1508760"/>
            <a:ext cx="5486400" cy="2788920"/>
          </a:xfrm>
          <a:prstGeom prst="roundRect">
            <a:avLst>
              <a:gd name="adj" fmla="val 3934"/>
            </a:avLst>
          </a:prstGeom>
          <a:solidFill>
            <a:srgbClr val="E2F0F1"/>
          </a:solidFill>
          <a:ln/>
        </p:spPr>
      </p:sp>
      <p:sp>
        <p:nvSpPr>
          <p:cNvPr id="5" name="Shape 3"/>
          <p:cNvSpPr/>
          <p:nvPr/>
        </p:nvSpPr>
        <p:spPr>
          <a:xfrm>
            <a:off x="822960" y="1737360"/>
            <a:ext cx="502920" cy="502920"/>
          </a:xfrm>
          <a:prstGeom prst="ellipse">
            <a:avLst/>
          </a:prstGeom>
          <a:solidFill>
            <a:srgbClr val="1F7A80"/>
          </a:solidFill>
          <a:ln/>
        </p:spPr>
      </p:sp>
      <p:pic>
        <p:nvPicPr>
          <p:cNvPr id="6" name="Image 0" descr="preencoded.png">    </p:cNvPr>
          <p:cNvPicPr>
            <a:picLocks noChangeAspect="1"/>
          </p:cNvPicPr>
          <p:nvPr/>
        </p:nvPicPr>
        <p:blipFill>
          <a:blip r:embed="rId1"/>
          <a:stretch>
            <a:fillRect/>
          </a:stretch>
        </p:blipFill>
        <p:spPr>
          <a:xfrm>
            <a:off x="948690" y="1863090"/>
            <a:ext cx="251460" cy="251460"/>
          </a:xfrm>
          <a:prstGeom prst="rect">
            <a:avLst/>
          </a:prstGeom>
        </p:spPr>
      </p:pic>
      <p:sp>
        <p:nvSpPr>
          <p:cNvPr id="7" name="Text 4"/>
          <p:cNvSpPr txBox="1"/>
          <p:nvPr/>
        </p:nvSpPr>
        <p:spPr>
          <a:xfrm>
            <a:off x="1463040" y="1737360"/>
            <a:ext cx="3657600" cy="502920"/>
          </a:xfrm>
          <a:prstGeom prst="rect">
            <a:avLst/>
          </a:prstGeom>
          <a:noFill/>
          <a:ln/>
        </p:spPr>
        <p:txBody>
          <a:bodyPr wrap="square" lIns="0" tIns="0" rIns="0" bIns="0" rtlCol="0" anchor="ctr"/>
          <a:lstStyle/>
          <a:p>
            <a:pPr algn="l" indent="0" marL="0">
              <a:buNone/>
            </a:pPr>
            <a:r>
              <a:rPr lang="en-US" sz="2200" b="1" dirty="0">
                <a:solidFill>
                  <a:srgbClr val="0F2A33"/>
                </a:solidFill>
                <a:latin typeface="Cambria" pitchFamily="34" charset="0"/>
                <a:ea typeface="Cambria" pitchFamily="34" charset="-122"/>
                <a:cs typeface="Cambria" pitchFamily="34" charset="-120"/>
              </a:rPr>
              <a:t>In scope</a:t>
            </a:r>
            <a:endParaRPr lang="en-US" sz="2200" dirty="0"/>
          </a:p>
        </p:txBody>
      </p:sp>
      <p:sp>
        <p:nvSpPr>
          <p:cNvPr id="8" name="Text 5"/>
          <p:cNvSpPr txBox="1"/>
          <p:nvPr/>
        </p:nvSpPr>
        <p:spPr>
          <a:xfrm>
            <a:off x="868680" y="2423160"/>
            <a:ext cx="4892040" cy="1783080"/>
          </a:xfrm>
          <a:prstGeom prst="rect">
            <a:avLst/>
          </a:prstGeom>
          <a:noFill/>
          <a:ln/>
        </p:spPr>
        <p:txBody>
          <a:bodyPr wrap="square" lIns="0" tIns="0" rIns="0" bIns="0" rtlCol="0" anchor="t"/>
          <a:lstStyle/>
          <a:p>
            <a:pPr algn="l" marL="203200" indent="-203200">
              <a:spcAft>
                <a:spcPts val="800"/>
              </a:spcAft>
              <a:buSzPct val="100000"/>
              <a:buChar char="•"/>
            </a:pPr>
            <a:r>
              <a:rPr lang="en-US" sz="1400" dirty="0">
                <a:solidFill>
                  <a:srgbClr val="1B2B33"/>
                </a:solidFill>
                <a:latin typeface="Calibri" pitchFamily="34" charset="0"/>
                <a:ea typeface="Calibri" pitchFamily="34" charset="-122"/>
                <a:cs typeface="Calibri" pitchFamily="34" charset="-120"/>
              </a:rPr>
              <a:t>Analysis of demographic and socio-economic factors from national surveys.</a:t>
            </a:r>
            <a:endParaRPr lang="en-US" sz="1400" dirty="0"/>
          </a:p>
          <a:p>
            <a:pPr algn="l" marL="203200" indent="-203200">
              <a:spcAft>
                <a:spcPts val="800"/>
              </a:spcAft>
              <a:buSzPct val="100000"/>
              <a:buChar char="•"/>
            </a:pPr>
            <a:r>
              <a:rPr lang="en-US" sz="1400" dirty="0">
                <a:solidFill>
                  <a:srgbClr val="1B2B33"/>
                </a:solidFill>
                <a:latin typeface="Calibri" pitchFamily="34" charset="0"/>
                <a:ea typeface="Calibri" pitchFamily="34" charset="-122"/>
                <a:cs typeface="Calibri" pitchFamily="34" charset="-120"/>
              </a:rPr>
              <a:t>Machine learning model to predict father presence (0 = No, 1 = Yes).</a:t>
            </a:r>
            <a:endParaRPr lang="en-US" sz="1400" dirty="0"/>
          </a:p>
          <a:p>
            <a:pPr algn="l" marL="203200" indent="-203200">
              <a:spcAft>
                <a:spcPts val="800"/>
              </a:spcAft>
              <a:buSzPct val="100000"/>
              <a:buChar char="•"/>
            </a:pPr>
            <a:r>
              <a:rPr lang="en-US" sz="1400" dirty="0">
                <a:solidFill>
                  <a:srgbClr val="1B2B33"/>
                </a:solidFill>
                <a:latin typeface="Calibri" pitchFamily="34" charset="0"/>
                <a:ea typeface="Calibri" pitchFamily="34" charset="-122"/>
                <a:cs typeface="Calibri" pitchFamily="34" charset="-120"/>
              </a:rPr>
              <a:t>Development of dashboards for insight presentation (Panel, Tableau).</a:t>
            </a:r>
            <a:endParaRPr lang="en-US" sz="1400" dirty="0"/>
          </a:p>
        </p:txBody>
      </p:sp>
      <p:sp>
        <p:nvSpPr>
          <p:cNvPr id="9" name="Shape 6"/>
          <p:cNvSpPr/>
          <p:nvPr/>
        </p:nvSpPr>
        <p:spPr>
          <a:xfrm>
            <a:off x="6263640" y="1508760"/>
            <a:ext cx="5349240" cy="2788920"/>
          </a:xfrm>
          <a:prstGeom prst="roundRect">
            <a:avLst>
              <a:gd name="adj" fmla="val 3934"/>
            </a:avLst>
          </a:prstGeom>
          <a:solidFill>
            <a:srgbClr val="F7E4E1"/>
          </a:solidFill>
          <a:ln/>
        </p:spPr>
      </p:sp>
      <p:sp>
        <p:nvSpPr>
          <p:cNvPr id="10" name="Shape 7"/>
          <p:cNvSpPr/>
          <p:nvPr/>
        </p:nvSpPr>
        <p:spPr>
          <a:xfrm>
            <a:off x="6537960" y="1737360"/>
            <a:ext cx="502920" cy="502920"/>
          </a:xfrm>
          <a:prstGeom prst="ellipse">
            <a:avLst/>
          </a:prstGeom>
          <a:solidFill>
            <a:srgbClr val="B5352B"/>
          </a:solidFill>
          <a:ln/>
        </p:spPr>
      </p:sp>
      <p:pic>
        <p:nvPicPr>
          <p:cNvPr id="11" name="Image 1" descr="preencoded.png">    </p:cNvPr>
          <p:cNvPicPr>
            <a:picLocks noChangeAspect="1"/>
          </p:cNvPicPr>
          <p:nvPr/>
        </p:nvPicPr>
        <p:blipFill>
          <a:blip r:embed="rId2"/>
          <a:stretch>
            <a:fillRect/>
          </a:stretch>
        </p:blipFill>
        <p:spPr>
          <a:xfrm>
            <a:off x="6663690" y="1863090"/>
            <a:ext cx="251460" cy="251460"/>
          </a:xfrm>
          <a:prstGeom prst="rect">
            <a:avLst/>
          </a:prstGeom>
        </p:spPr>
      </p:pic>
      <p:sp>
        <p:nvSpPr>
          <p:cNvPr id="12" name="Text 8"/>
          <p:cNvSpPr txBox="1"/>
          <p:nvPr/>
        </p:nvSpPr>
        <p:spPr>
          <a:xfrm>
            <a:off x="7178040" y="1737360"/>
            <a:ext cx="3657600" cy="502920"/>
          </a:xfrm>
          <a:prstGeom prst="rect">
            <a:avLst/>
          </a:prstGeom>
          <a:noFill/>
          <a:ln/>
        </p:spPr>
        <p:txBody>
          <a:bodyPr wrap="square" lIns="0" tIns="0" rIns="0" bIns="0" rtlCol="0" anchor="ctr"/>
          <a:lstStyle/>
          <a:p>
            <a:pPr algn="l" indent="0" marL="0">
              <a:buNone/>
            </a:pPr>
            <a:r>
              <a:rPr lang="en-US" sz="2200" b="1" dirty="0">
                <a:solidFill>
                  <a:srgbClr val="0F2A33"/>
                </a:solidFill>
                <a:latin typeface="Cambria" pitchFamily="34" charset="0"/>
                <a:ea typeface="Cambria" pitchFamily="34" charset="-122"/>
                <a:cs typeface="Cambria" pitchFamily="34" charset="-120"/>
              </a:rPr>
              <a:t>Out of scope</a:t>
            </a:r>
            <a:endParaRPr lang="en-US" sz="2200" dirty="0"/>
          </a:p>
        </p:txBody>
      </p:sp>
      <p:sp>
        <p:nvSpPr>
          <p:cNvPr id="13" name="Text 9"/>
          <p:cNvSpPr txBox="1"/>
          <p:nvPr/>
        </p:nvSpPr>
        <p:spPr>
          <a:xfrm>
            <a:off x="6583680" y="2423160"/>
            <a:ext cx="4754880" cy="1783080"/>
          </a:xfrm>
          <a:prstGeom prst="rect">
            <a:avLst/>
          </a:prstGeom>
          <a:noFill/>
          <a:ln/>
        </p:spPr>
        <p:txBody>
          <a:bodyPr wrap="square" lIns="0" tIns="0" rIns="0" bIns="0" rtlCol="0" anchor="t"/>
          <a:lstStyle/>
          <a:p>
            <a:pPr algn="l" marL="203200" indent="-203200">
              <a:spcAft>
                <a:spcPts val="800"/>
              </a:spcAft>
              <a:buSzPct val="100000"/>
              <a:buChar char="•"/>
            </a:pPr>
            <a:r>
              <a:rPr lang="en-US" sz="1400" dirty="0">
                <a:solidFill>
                  <a:srgbClr val="1B2B33"/>
                </a:solidFill>
                <a:latin typeface="Calibri" pitchFamily="34" charset="0"/>
                <a:ea typeface="Calibri" pitchFamily="34" charset="-122"/>
                <a:cs typeface="Calibri" pitchFamily="34" charset="-120"/>
              </a:rPr>
              <a:t>Analysis of deceased or unknown father cases.</a:t>
            </a:r>
            <a:endParaRPr lang="en-US" sz="1400" dirty="0"/>
          </a:p>
          <a:p>
            <a:pPr algn="l" marL="203200" indent="-203200">
              <a:spcAft>
                <a:spcPts val="800"/>
              </a:spcAft>
              <a:buSzPct val="100000"/>
              <a:buChar char="•"/>
            </a:pPr>
            <a:r>
              <a:rPr lang="en-US" sz="1400" dirty="0">
                <a:solidFill>
                  <a:srgbClr val="1B2B33"/>
                </a:solidFill>
                <a:latin typeface="Calibri" pitchFamily="34" charset="0"/>
                <a:ea typeface="Calibri" pitchFamily="34" charset="-122"/>
                <a:cs typeface="Calibri" pitchFamily="34" charset="-120"/>
              </a:rPr>
              <a:t>Longitudinal tracking of individual households.</a:t>
            </a:r>
            <a:endParaRPr lang="en-US" sz="1400" dirty="0"/>
          </a:p>
        </p:txBody>
      </p:sp>
      <p:sp>
        <p:nvSpPr>
          <p:cNvPr id="14" name="Shape 10"/>
          <p:cNvSpPr/>
          <p:nvPr/>
        </p:nvSpPr>
        <p:spPr>
          <a:xfrm>
            <a:off x="548640" y="4526280"/>
            <a:ext cx="11064240" cy="1783080"/>
          </a:xfrm>
          <a:prstGeom prst="roundRect">
            <a:avLst>
              <a:gd name="adj" fmla="val 6154"/>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5" name="Text 11"/>
          <p:cNvSpPr txBox="1"/>
          <p:nvPr/>
        </p:nvSpPr>
        <p:spPr>
          <a:xfrm>
            <a:off x="868680" y="4663440"/>
            <a:ext cx="3657600" cy="274320"/>
          </a:xfrm>
          <a:prstGeom prst="rect">
            <a:avLst/>
          </a:prstGeom>
          <a:noFill/>
          <a:ln/>
        </p:spPr>
        <p:txBody>
          <a:bodyPr wrap="square" lIns="0" tIns="0" rIns="0" bIns="0" rtlCol="0" anchor="t"/>
          <a:lstStyle/>
          <a:p>
            <a:pPr algn="l" indent="0" marL="0">
              <a:buNone/>
            </a:pPr>
            <a:r>
              <a:rPr lang="en-US" sz="1200" b="1" dirty="0">
                <a:solidFill>
                  <a:srgbClr val="5B6D75"/>
                </a:solidFill>
                <a:latin typeface="Calibri" pitchFamily="34" charset="0"/>
                <a:ea typeface="Calibri" pitchFamily="34" charset="-122"/>
                <a:cs typeface="Calibri" pitchFamily="34" charset="-120"/>
              </a:rPr>
              <a:t>Father-status variables in the data</a:t>
            </a:r>
            <a:endParaRPr lang="en-US" sz="1200" dirty="0"/>
          </a:p>
        </p:txBody>
      </p:sp>
      <p:pic>
        <p:nvPicPr>
          <p:cNvPr id="16" name="Image 2" descr="/home/claude/assets/image8.png">    </p:cNvPr>
          <p:cNvPicPr>
            <a:picLocks noChangeAspect="1"/>
          </p:cNvPicPr>
          <p:nvPr/>
        </p:nvPicPr>
        <p:blipFill>
          <a:blip r:embed="rId3"/>
          <a:stretch>
            <a:fillRect/>
          </a:stretch>
        </p:blipFill>
        <p:spPr>
          <a:xfrm>
            <a:off x="1757330" y="5029200"/>
            <a:ext cx="2154621" cy="1143000"/>
          </a:xfrm>
          <a:prstGeom prst="rect">
            <a:avLst/>
          </a:prstGeom>
        </p:spPr>
      </p:pic>
      <p:pic>
        <p:nvPicPr>
          <p:cNvPr id="17" name="Image 3" descr="/home/claude/assets/image9.png">    </p:cNvPr>
          <p:cNvPicPr>
            <a:picLocks noChangeAspect="1"/>
          </p:cNvPicPr>
          <p:nvPr/>
        </p:nvPicPr>
        <p:blipFill>
          <a:blip r:embed="rId4"/>
          <a:stretch>
            <a:fillRect/>
          </a:stretch>
        </p:blipFill>
        <p:spPr>
          <a:xfrm>
            <a:off x="5610391" y="5029200"/>
            <a:ext cx="3043859" cy="1143000"/>
          </a:xfrm>
          <a:prstGeom prst="rect">
            <a:avLst/>
          </a:prstGeom>
        </p:spPr>
      </p:pic>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Solution / Methodology</a:t>
            </a:r>
            <a:endParaRPr lang="en-US" sz="3200" dirty="0"/>
          </a:p>
        </p:txBody>
      </p:sp>
      <p:sp>
        <p:nvSpPr>
          <p:cNvPr id="4" name="Text 2"/>
          <p:cNvSpPr txBox="1"/>
          <p:nvPr/>
        </p:nvSpPr>
        <p:spPr>
          <a:xfrm>
            <a:off x="548640" y="1371600"/>
            <a:ext cx="11064240" cy="640080"/>
          </a:xfrm>
          <a:prstGeom prst="rect">
            <a:avLst/>
          </a:prstGeom>
          <a:noFill/>
          <a:ln/>
        </p:spPr>
        <p:txBody>
          <a:bodyPr wrap="square" lIns="0" tIns="0" rIns="0" bIns="0" rtlCol="0" anchor="t"/>
          <a:lstStyle/>
          <a:p>
            <a:pPr algn="l" indent="0" marL="0">
              <a:buNone/>
            </a:pPr>
            <a:r>
              <a:rPr lang="en-US" sz="1600" dirty="0">
                <a:solidFill>
                  <a:srgbClr val="5B6D75"/>
                </a:solidFill>
                <a:latin typeface="Calibri" pitchFamily="34" charset="0"/>
                <a:ea typeface="Calibri" pitchFamily="34" charset="-122"/>
                <a:cs typeface="Calibri" pitchFamily="34" charset="-120"/>
              </a:rPr>
              <a:t>The methodology follows a structured data science pipeline. Key focus is on interpretability — understanding which variables most influence father presence.</a:t>
            </a:r>
            <a:endParaRPr lang="en-US" sz="1600" dirty="0"/>
          </a:p>
        </p:txBody>
      </p:sp>
      <p:sp>
        <p:nvSpPr>
          <p:cNvPr id="5" name="Shape 3"/>
          <p:cNvSpPr/>
          <p:nvPr/>
        </p:nvSpPr>
        <p:spPr>
          <a:xfrm>
            <a:off x="548640" y="219456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6" name="Text 4"/>
          <p:cNvSpPr/>
          <p:nvPr/>
        </p:nvSpPr>
        <p:spPr>
          <a:xfrm>
            <a:off x="777240" y="242316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508760" y="239572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Data acquisition</a:t>
            </a:r>
            <a:endParaRPr lang="en-US" sz="1600" dirty="0"/>
          </a:p>
        </p:txBody>
      </p:sp>
      <p:sp>
        <p:nvSpPr>
          <p:cNvPr id="8" name="Text 6"/>
          <p:cNvSpPr txBox="1"/>
          <p:nvPr/>
        </p:nvSpPr>
        <p:spPr>
          <a:xfrm>
            <a:off x="1508760" y="288036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From DataFirst UCT (2023).</a:t>
            </a:r>
            <a:endParaRPr lang="en-US" sz="1300" dirty="0"/>
          </a:p>
        </p:txBody>
      </p:sp>
      <p:sp>
        <p:nvSpPr>
          <p:cNvPr id="9" name="Shape 7"/>
          <p:cNvSpPr/>
          <p:nvPr/>
        </p:nvSpPr>
        <p:spPr>
          <a:xfrm>
            <a:off x="4389120" y="219456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Text 8"/>
          <p:cNvSpPr/>
          <p:nvPr/>
        </p:nvSpPr>
        <p:spPr>
          <a:xfrm>
            <a:off x="4617720" y="242316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5349240" y="239572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Data preprocessing</a:t>
            </a:r>
            <a:endParaRPr lang="en-US" sz="1600" dirty="0"/>
          </a:p>
        </p:txBody>
      </p:sp>
      <p:sp>
        <p:nvSpPr>
          <p:cNvPr id="12" name="Text 10"/>
          <p:cNvSpPr txBox="1"/>
          <p:nvPr/>
        </p:nvSpPr>
        <p:spPr>
          <a:xfrm>
            <a:off x="5349240" y="288036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Cleaning, encoding, feature selection, and transformation.</a:t>
            </a:r>
            <a:endParaRPr lang="en-US" sz="1300" dirty="0"/>
          </a:p>
        </p:txBody>
      </p:sp>
      <p:sp>
        <p:nvSpPr>
          <p:cNvPr id="13" name="Shape 11"/>
          <p:cNvSpPr/>
          <p:nvPr/>
        </p:nvSpPr>
        <p:spPr>
          <a:xfrm>
            <a:off x="8229600" y="219456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Text 12"/>
          <p:cNvSpPr/>
          <p:nvPr/>
        </p:nvSpPr>
        <p:spPr>
          <a:xfrm>
            <a:off x="8458200" y="242316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9189720" y="239572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Exploratory Data Analysis</a:t>
            </a:r>
            <a:endParaRPr lang="en-US" sz="1600" dirty="0"/>
          </a:p>
        </p:txBody>
      </p:sp>
      <p:sp>
        <p:nvSpPr>
          <p:cNvPr id="16" name="Text 14"/>
          <p:cNvSpPr txBox="1"/>
          <p:nvPr/>
        </p:nvSpPr>
        <p:spPr>
          <a:xfrm>
            <a:off x="9189720" y="288036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Using Plotly visualizations.</a:t>
            </a:r>
            <a:endParaRPr lang="en-US" sz="1300" dirty="0"/>
          </a:p>
        </p:txBody>
      </p:sp>
      <p:sp>
        <p:nvSpPr>
          <p:cNvPr id="17" name="Shape 15"/>
          <p:cNvSpPr/>
          <p:nvPr/>
        </p:nvSpPr>
        <p:spPr>
          <a:xfrm>
            <a:off x="548640" y="393192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8" name="Text 16"/>
          <p:cNvSpPr/>
          <p:nvPr/>
        </p:nvSpPr>
        <p:spPr>
          <a:xfrm>
            <a:off x="777240" y="416052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1508760" y="413308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Model development</a:t>
            </a:r>
            <a:endParaRPr lang="en-US" sz="1600" dirty="0"/>
          </a:p>
        </p:txBody>
      </p:sp>
      <p:sp>
        <p:nvSpPr>
          <p:cNvPr id="20" name="Text 18"/>
          <p:cNvSpPr txBox="1"/>
          <p:nvPr/>
        </p:nvSpPr>
        <p:spPr>
          <a:xfrm>
            <a:off x="1508760" y="461772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Random Forest and other supervised classifiers.</a:t>
            </a:r>
            <a:endParaRPr lang="en-US" sz="1300" dirty="0"/>
          </a:p>
        </p:txBody>
      </p:sp>
      <p:sp>
        <p:nvSpPr>
          <p:cNvPr id="21" name="Shape 19"/>
          <p:cNvSpPr/>
          <p:nvPr/>
        </p:nvSpPr>
        <p:spPr>
          <a:xfrm>
            <a:off x="4389120" y="393192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2" name="Text 20"/>
          <p:cNvSpPr/>
          <p:nvPr/>
        </p:nvSpPr>
        <p:spPr>
          <a:xfrm>
            <a:off x="4617720" y="416052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5349240" y="413308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Model evaluation</a:t>
            </a:r>
            <a:endParaRPr lang="en-US" sz="1600" dirty="0"/>
          </a:p>
        </p:txBody>
      </p:sp>
      <p:sp>
        <p:nvSpPr>
          <p:cNvPr id="24" name="Text 22"/>
          <p:cNvSpPr txBox="1"/>
          <p:nvPr/>
        </p:nvSpPr>
        <p:spPr>
          <a:xfrm>
            <a:off x="5349240" y="461772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Performance metrics (accuracy, precision, recall).</a:t>
            </a:r>
            <a:endParaRPr lang="en-US" sz="1300" dirty="0"/>
          </a:p>
        </p:txBody>
      </p:sp>
      <p:sp>
        <p:nvSpPr>
          <p:cNvPr id="25" name="Shape 23"/>
          <p:cNvSpPr/>
          <p:nvPr/>
        </p:nvSpPr>
        <p:spPr>
          <a:xfrm>
            <a:off x="8229600" y="3931920"/>
            <a:ext cx="356616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6" name="Text 24"/>
          <p:cNvSpPr/>
          <p:nvPr/>
        </p:nvSpPr>
        <p:spPr>
          <a:xfrm>
            <a:off x="8458200" y="4160520"/>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6</a:t>
            </a:r>
            <a:endParaRPr lang="en-US" sz="1800" dirty="0"/>
          </a:p>
        </p:txBody>
      </p:sp>
      <p:sp>
        <p:nvSpPr>
          <p:cNvPr id="27" name="Text 25"/>
          <p:cNvSpPr txBox="1"/>
          <p:nvPr/>
        </p:nvSpPr>
        <p:spPr>
          <a:xfrm>
            <a:off x="9189720" y="4133088"/>
            <a:ext cx="2468880" cy="411480"/>
          </a:xfrm>
          <a:prstGeom prst="rect">
            <a:avLst/>
          </a:prstGeom>
          <a:noFill/>
          <a:ln/>
        </p:spPr>
        <p:txBody>
          <a:bodyPr wrap="square" lIns="0" tIns="0" rIns="0" bIns="0" rtlCol="0" anchor="ctr"/>
          <a:lstStyle/>
          <a:p>
            <a:pPr algn="l" indent="0" marL="0">
              <a:buNone/>
            </a:pPr>
            <a:r>
              <a:rPr lang="en-US" sz="1600" b="1" dirty="0">
                <a:solidFill>
                  <a:srgbClr val="0F2A33"/>
                </a:solidFill>
                <a:latin typeface="Cambria" pitchFamily="34" charset="0"/>
                <a:ea typeface="Cambria" pitchFamily="34" charset="-122"/>
                <a:cs typeface="Cambria" pitchFamily="34" charset="-120"/>
              </a:rPr>
              <a:t>Reporting</a:t>
            </a:r>
            <a:endParaRPr lang="en-US" sz="1600" dirty="0"/>
          </a:p>
        </p:txBody>
      </p:sp>
      <p:sp>
        <p:nvSpPr>
          <p:cNvPr id="28" name="Text 26"/>
          <p:cNvSpPr txBox="1"/>
          <p:nvPr/>
        </p:nvSpPr>
        <p:spPr>
          <a:xfrm>
            <a:off x="9189720" y="4617720"/>
            <a:ext cx="2468880" cy="73152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Interactive dashboard with policy-focused insights.</a:t>
            </a:r>
            <a:endParaRPr lang="en-US" sz="1300" dirty="0"/>
          </a:p>
        </p:txBody>
      </p:sp>
      <p:sp>
        <p:nvSpPr>
          <p:cNvPr id="29" name="Text 27"/>
          <p:cNvSpPr txBox="1"/>
          <p:nvPr/>
        </p:nvSpPr>
        <p:spPr>
          <a:xfrm>
            <a:off x="548640" y="5897880"/>
            <a:ext cx="914400" cy="457200"/>
          </a:xfrm>
          <a:prstGeom prst="rect">
            <a:avLst/>
          </a:prstGeom>
          <a:noFill/>
          <a:ln/>
        </p:spPr>
        <p:txBody>
          <a:bodyPr wrap="square" lIns="0" tIns="0" rIns="0" bIns="0" rtlCol="0" anchor="ctr"/>
          <a:lstStyle/>
          <a:p>
            <a:pPr algn="l" indent="0" marL="0">
              <a:buNone/>
            </a:pPr>
            <a:r>
              <a:rPr lang="en-US" sz="1100" b="1" spc="300" kern="0" dirty="0">
                <a:solidFill>
                  <a:srgbClr val="5B6D75"/>
                </a:solidFill>
                <a:latin typeface="Calibri" pitchFamily="34" charset="0"/>
                <a:ea typeface="Calibri" pitchFamily="34" charset="-122"/>
                <a:cs typeface="Calibri" pitchFamily="34" charset="-120"/>
              </a:rPr>
              <a:t>TOOLS</a:t>
            </a:r>
            <a:endParaRPr lang="en-US" sz="1100" dirty="0"/>
          </a:p>
        </p:txBody>
      </p:sp>
      <p:pic>
        <p:nvPicPr>
          <p:cNvPr id="30" name="Image 0" descr="/home/claude/assets/image10.png">    </p:cNvPr>
          <p:cNvPicPr>
            <a:picLocks noChangeAspect="1"/>
          </p:cNvPicPr>
          <p:nvPr/>
        </p:nvPicPr>
        <p:blipFill>
          <a:blip r:embed="rId1"/>
          <a:stretch>
            <a:fillRect/>
          </a:stretch>
        </p:blipFill>
        <p:spPr>
          <a:xfrm>
            <a:off x="1554480" y="5981042"/>
            <a:ext cx="2194560" cy="309164"/>
          </a:xfrm>
          <a:prstGeom prst="rect">
            <a:avLst/>
          </a:prstGeom>
        </p:spPr>
      </p:pic>
      <p:pic>
        <p:nvPicPr>
          <p:cNvPr id="31" name="Image 1" descr="/home/claude/assets/image11.png">    </p:cNvPr>
          <p:cNvPicPr>
            <a:picLocks noChangeAspect="1"/>
          </p:cNvPicPr>
          <p:nvPr/>
        </p:nvPicPr>
        <p:blipFill>
          <a:blip r:embed="rId2"/>
          <a:stretch>
            <a:fillRect/>
          </a:stretch>
        </p:blipFill>
        <p:spPr>
          <a:xfrm>
            <a:off x="4114800" y="5930348"/>
            <a:ext cx="1463040" cy="392264"/>
          </a:xfrm>
          <a:prstGeom prst="rect">
            <a:avLst/>
          </a:prstGeom>
        </p:spPr>
      </p:pic>
      <p:pic>
        <p:nvPicPr>
          <p:cNvPr id="32" name="Image 2" descr="/home/claude/assets/image12.png">    </p:cNvPr>
          <p:cNvPicPr>
            <a:picLocks noChangeAspect="1"/>
          </p:cNvPicPr>
          <p:nvPr/>
        </p:nvPicPr>
        <p:blipFill>
          <a:blip r:embed="rId3"/>
          <a:stretch>
            <a:fillRect/>
          </a:stretch>
        </p:blipFill>
        <p:spPr>
          <a:xfrm>
            <a:off x="5943600" y="5858786"/>
            <a:ext cx="548640" cy="535388"/>
          </a:xfrm>
          <a:prstGeom prst="rect">
            <a:avLst/>
          </a:prstGeom>
        </p:spPr>
      </p:pic>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Clear Project Deliverables</a:t>
            </a:r>
            <a:endParaRPr lang="en-US" sz="3200" dirty="0"/>
          </a:p>
        </p:txBody>
      </p:sp>
      <p:sp>
        <p:nvSpPr>
          <p:cNvPr id="4" name="Text 2"/>
          <p:cNvSpPr/>
          <p:nvPr/>
        </p:nvSpPr>
        <p:spPr>
          <a:xfrm>
            <a:off x="548640" y="1737360"/>
            <a:ext cx="914400" cy="914400"/>
          </a:xfrm>
          <a:prstGeom prst="ellipse">
            <a:avLst/>
          </a:prstGeom>
          <a:solidFill>
            <a:srgbClr val="0F2A33"/>
          </a:solidFill>
          <a:ln/>
        </p:spPr>
        <p:txBody>
          <a:bodyPr wrap="square" lIns="0" tIns="0" rIns="0" bIns="0" rtlCol="0" anchor="ctr"/>
          <a:lstStyle/>
          <a:p>
            <a:pPr algn="ctr" indent="0" marL="0">
              <a:buNone/>
            </a:pPr>
            <a:r>
              <a:rPr lang="en-US" sz="3600" b="1" dirty="0">
                <a:solidFill>
                  <a:srgbClr val="F2A03D"/>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1691640" y="1737360"/>
            <a:ext cx="4572000" cy="914400"/>
          </a:xfrm>
          <a:prstGeom prst="rect">
            <a:avLst/>
          </a:prstGeom>
          <a:noFill/>
          <a:ln/>
        </p:spPr>
        <p:txBody>
          <a:bodyPr wrap="square" lIns="0" tIns="0" rIns="0" bIns="0" rtlCol="0" anchor="ctr"/>
          <a:lstStyle/>
          <a:p>
            <a:pPr algn="l" indent="0" marL="0">
              <a:buNone/>
            </a:pPr>
            <a:r>
              <a:rPr lang="en-US" sz="2800" b="1" dirty="0">
                <a:solidFill>
                  <a:srgbClr val="0F2A33"/>
                </a:solidFill>
                <a:latin typeface="Cambria" pitchFamily="34" charset="0"/>
                <a:ea typeface="Cambria" pitchFamily="34" charset="-122"/>
                <a:cs typeface="Cambria" pitchFamily="34" charset="-120"/>
              </a:rPr>
              <a:t>Data Acquisition</a:t>
            </a:r>
            <a:endParaRPr lang="en-US" sz="2800" dirty="0"/>
          </a:p>
        </p:txBody>
      </p:sp>
      <p:sp>
        <p:nvSpPr>
          <p:cNvPr id="6" name="Text 4"/>
          <p:cNvSpPr txBox="1"/>
          <p:nvPr/>
        </p:nvSpPr>
        <p:spPr>
          <a:xfrm>
            <a:off x="548640" y="3017520"/>
            <a:ext cx="5760720" cy="2286000"/>
          </a:xfrm>
          <a:prstGeom prst="rect">
            <a:avLst/>
          </a:prstGeom>
          <a:noFill/>
          <a:ln/>
        </p:spPr>
        <p:txBody>
          <a:bodyPr wrap="square" lIns="0" tIns="0" rIns="0" bIns="0" rtlCol="0" anchor="t"/>
          <a:lstStyle/>
          <a:p>
            <a:pPr algn="l" indent="0" marL="0">
              <a:buNone/>
            </a:pPr>
            <a:r>
              <a:rPr lang="en-US" sz="1800" dirty="0">
                <a:solidFill>
                  <a:srgbClr val="1B2B33"/>
                </a:solidFill>
                <a:latin typeface="Calibri" pitchFamily="34" charset="0"/>
                <a:ea typeface="Calibri" pitchFamily="34" charset="-122"/>
                <a:cs typeface="Calibri" pitchFamily="34" charset="-120"/>
              </a:rPr>
              <a:t>The 2024 household survey data was manually collected from DataFirst (University of Cape Town) under rules and policies provided. This dataset serves as the primary source for analysis.</a:t>
            </a:r>
            <a:endParaRPr lang="en-US" sz="1800" dirty="0"/>
          </a:p>
        </p:txBody>
      </p:sp>
      <p:sp>
        <p:nvSpPr>
          <p:cNvPr id="7" name="Shape 5"/>
          <p:cNvSpPr/>
          <p:nvPr/>
        </p:nvSpPr>
        <p:spPr>
          <a:xfrm>
            <a:off x="7040880" y="1737360"/>
            <a:ext cx="4572000" cy="1280160"/>
          </a:xfrm>
          <a:prstGeom prst="roundRect">
            <a:avLst>
              <a:gd name="adj" fmla="val 857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6"/>
          <p:cNvSpPr txBox="1"/>
          <p:nvPr/>
        </p:nvSpPr>
        <p:spPr>
          <a:xfrm>
            <a:off x="7315200" y="1737360"/>
            <a:ext cx="2377440" cy="1280160"/>
          </a:xfrm>
          <a:prstGeom prst="rect">
            <a:avLst/>
          </a:prstGeom>
          <a:noFill/>
          <a:ln/>
        </p:spPr>
        <p:txBody>
          <a:bodyPr wrap="square" lIns="0" tIns="0" rIns="0" bIns="0" rtlCol="0" anchor="ctr"/>
          <a:lstStyle/>
          <a:p>
            <a:pPr algn="l" indent="0" marL="0">
              <a:buNone/>
            </a:pPr>
            <a:r>
              <a:rPr lang="en-US" sz="4000" b="1" dirty="0">
                <a:solidFill>
                  <a:srgbClr val="1F7A80"/>
                </a:solidFill>
                <a:latin typeface="Cambria" pitchFamily="34" charset="0"/>
                <a:ea typeface="Cambria" pitchFamily="34" charset="-122"/>
                <a:cs typeface="Cambria" pitchFamily="34" charset="-120"/>
              </a:rPr>
              <a:t>2024</a:t>
            </a:r>
            <a:endParaRPr lang="en-US" sz="4000" dirty="0"/>
          </a:p>
        </p:txBody>
      </p:sp>
      <p:sp>
        <p:nvSpPr>
          <p:cNvPr id="9" name="Text 7"/>
          <p:cNvSpPr txBox="1"/>
          <p:nvPr/>
        </p:nvSpPr>
        <p:spPr>
          <a:xfrm>
            <a:off x="9692640" y="1737360"/>
            <a:ext cx="1828800" cy="1280160"/>
          </a:xfrm>
          <a:prstGeom prst="rect">
            <a:avLst/>
          </a:prstGeom>
          <a:noFill/>
          <a:ln/>
        </p:spPr>
        <p:txBody>
          <a:bodyPr wrap="square" lIns="0" tIns="0" rIns="0" bIns="0" rtlCol="0" anchor="ctr"/>
          <a:lstStyle/>
          <a:p>
            <a:pPr algn="l" indent="0" marL="0">
              <a:buNone/>
            </a:pPr>
            <a:r>
              <a:rPr lang="en-US" sz="1600" dirty="0">
                <a:solidFill>
                  <a:srgbClr val="1B2B33"/>
                </a:solidFill>
                <a:latin typeface="Calibri" pitchFamily="34" charset="0"/>
                <a:ea typeface="Calibri" pitchFamily="34" charset="-122"/>
                <a:cs typeface="Calibri" pitchFamily="34" charset="-120"/>
              </a:rPr>
              <a:t>household survey</a:t>
            </a:r>
            <a:endParaRPr lang="en-US" sz="1600" dirty="0"/>
          </a:p>
        </p:txBody>
      </p:sp>
      <p:sp>
        <p:nvSpPr>
          <p:cNvPr id="10" name="Shape 8"/>
          <p:cNvSpPr/>
          <p:nvPr/>
        </p:nvSpPr>
        <p:spPr>
          <a:xfrm>
            <a:off x="7040880" y="3200400"/>
            <a:ext cx="4572000" cy="1280160"/>
          </a:xfrm>
          <a:prstGeom prst="roundRect">
            <a:avLst>
              <a:gd name="adj" fmla="val 857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Text 9"/>
          <p:cNvSpPr txBox="1"/>
          <p:nvPr/>
        </p:nvSpPr>
        <p:spPr>
          <a:xfrm>
            <a:off x="7315200" y="3200400"/>
            <a:ext cx="2377440" cy="1280160"/>
          </a:xfrm>
          <a:prstGeom prst="rect">
            <a:avLst/>
          </a:prstGeom>
          <a:noFill/>
          <a:ln/>
        </p:spPr>
        <p:txBody>
          <a:bodyPr wrap="square" lIns="0" tIns="0" rIns="0" bIns="0" rtlCol="0" anchor="ctr"/>
          <a:lstStyle/>
          <a:p>
            <a:pPr algn="l" indent="0" marL="0">
              <a:buNone/>
            </a:pPr>
            <a:r>
              <a:rPr lang="en-US" sz="4000" b="1" dirty="0">
                <a:solidFill>
                  <a:srgbClr val="1F7A80"/>
                </a:solidFill>
                <a:latin typeface="Cambria" pitchFamily="34" charset="0"/>
                <a:ea typeface="Cambria" pitchFamily="34" charset="-122"/>
                <a:cs typeface="Cambria" pitchFamily="34" charset="-120"/>
              </a:rPr>
              <a:t>71,000+</a:t>
            </a:r>
            <a:endParaRPr lang="en-US" sz="4000" dirty="0"/>
          </a:p>
        </p:txBody>
      </p:sp>
      <p:sp>
        <p:nvSpPr>
          <p:cNvPr id="12" name="Text 10"/>
          <p:cNvSpPr txBox="1"/>
          <p:nvPr/>
        </p:nvSpPr>
        <p:spPr>
          <a:xfrm>
            <a:off x="9692640" y="3200400"/>
            <a:ext cx="1828800" cy="1280160"/>
          </a:xfrm>
          <a:prstGeom prst="rect">
            <a:avLst/>
          </a:prstGeom>
          <a:noFill/>
          <a:ln/>
        </p:spPr>
        <p:txBody>
          <a:bodyPr wrap="square" lIns="0" tIns="0" rIns="0" bIns="0" rtlCol="0" anchor="ctr"/>
          <a:lstStyle/>
          <a:p>
            <a:pPr algn="l" indent="0" marL="0">
              <a:buNone/>
            </a:pPr>
            <a:r>
              <a:rPr lang="en-US" sz="1600" dirty="0">
                <a:solidFill>
                  <a:srgbClr val="1B2B33"/>
                </a:solidFill>
                <a:latin typeface="Calibri" pitchFamily="34" charset="0"/>
                <a:ea typeface="Calibri" pitchFamily="34" charset="-122"/>
                <a:cs typeface="Calibri" pitchFamily="34" charset="-120"/>
              </a:rPr>
              <a:t>rows</a:t>
            </a:r>
            <a:endParaRPr lang="en-US" sz="1600" dirty="0"/>
          </a:p>
        </p:txBody>
      </p:sp>
      <p:sp>
        <p:nvSpPr>
          <p:cNvPr id="13" name="Shape 11"/>
          <p:cNvSpPr/>
          <p:nvPr/>
        </p:nvSpPr>
        <p:spPr>
          <a:xfrm>
            <a:off x="7040880" y="4663440"/>
            <a:ext cx="4572000" cy="1280160"/>
          </a:xfrm>
          <a:prstGeom prst="roundRect">
            <a:avLst>
              <a:gd name="adj" fmla="val 857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Text 12"/>
          <p:cNvSpPr txBox="1"/>
          <p:nvPr/>
        </p:nvSpPr>
        <p:spPr>
          <a:xfrm>
            <a:off x="7315200" y="4663440"/>
            <a:ext cx="2377440" cy="1280160"/>
          </a:xfrm>
          <a:prstGeom prst="rect">
            <a:avLst/>
          </a:prstGeom>
          <a:noFill/>
          <a:ln/>
        </p:spPr>
        <p:txBody>
          <a:bodyPr wrap="square" lIns="0" tIns="0" rIns="0" bIns="0" rtlCol="0" anchor="ctr"/>
          <a:lstStyle/>
          <a:p>
            <a:pPr algn="l" indent="0" marL="0">
              <a:buNone/>
            </a:pPr>
            <a:r>
              <a:rPr lang="en-US" sz="4000" b="1" dirty="0">
                <a:solidFill>
                  <a:srgbClr val="1F7A80"/>
                </a:solidFill>
                <a:latin typeface="Cambria" pitchFamily="34" charset="0"/>
                <a:ea typeface="Cambria" pitchFamily="34" charset="-122"/>
                <a:cs typeface="Cambria" pitchFamily="34" charset="-120"/>
              </a:rPr>
              <a:t>100+</a:t>
            </a:r>
            <a:endParaRPr lang="en-US" sz="4000" dirty="0"/>
          </a:p>
        </p:txBody>
      </p:sp>
      <p:sp>
        <p:nvSpPr>
          <p:cNvPr id="15" name="Text 13"/>
          <p:cNvSpPr txBox="1"/>
          <p:nvPr/>
        </p:nvSpPr>
        <p:spPr>
          <a:xfrm>
            <a:off x="9692640" y="4663440"/>
            <a:ext cx="1828800" cy="1280160"/>
          </a:xfrm>
          <a:prstGeom prst="rect">
            <a:avLst/>
          </a:prstGeom>
          <a:noFill/>
          <a:ln/>
        </p:spPr>
        <p:txBody>
          <a:bodyPr wrap="square" lIns="0" tIns="0" rIns="0" bIns="0" rtlCol="0" anchor="ctr"/>
          <a:lstStyle/>
          <a:p>
            <a:pPr algn="l" indent="0" marL="0">
              <a:buNone/>
            </a:pPr>
            <a:r>
              <a:rPr lang="en-US" sz="1600" dirty="0">
                <a:solidFill>
                  <a:srgbClr val="1B2B33"/>
                </a:solidFill>
                <a:latin typeface="Calibri" pitchFamily="34" charset="0"/>
                <a:ea typeface="Calibri" pitchFamily="34" charset="-122"/>
                <a:cs typeface="Calibri" pitchFamily="34" charset="-120"/>
              </a:rPr>
              <a:t>columns</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Deliverable 2: Data Preprocessing</a:t>
            </a:r>
            <a:endParaRPr lang="en-US" sz="3200" dirty="0"/>
          </a:p>
        </p:txBody>
      </p:sp>
      <p:sp>
        <p:nvSpPr>
          <p:cNvPr id="4" name="Shape 2"/>
          <p:cNvSpPr/>
          <p:nvPr/>
        </p:nvSpPr>
        <p:spPr>
          <a:xfrm>
            <a:off x="548640" y="1508760"/>
            <a:ext cx="5394960" cy="1371600"/>
          </a:xfrm>
          <a:prstGeom prst="roundRect">
            <a:avLst>
              <a:gd name="adj" fmla="val 80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874520"/>
            <a:ext cx="640080" cy="640080"/>
          </a:xfrm>
          <a:prstGeom prst="ellipse">
            <a:avLst/>
          </a:prstGeom>
          <a:solidFill>
            <a:srgbClr val="E2F0F1"/>
          </a:solidFill>
          <a:ln/>
        </p:spPr>
      </p:sp>
      <p:pic>
        <p:nvPicPr>
          <p:cNvPr id="6" name="Image 0" descr="preencoded.png">    </p:cNvPr>
          <p:cNvPicPr>
            <a:picLocks noChangeAspect="1"/>
          </p:cNvPicPr>
          <p:nvPr/>
        </p:nvPicPr>
        <p:blipFill>
          <a:blip r:embed="rId1"/>
          <a:stretch>
            <a:fillRect/>
          </a:stretch>
        </p:blipFill>
        <p:spPr>
          <a:xfrm>
            <a:off x="982980" y="2034540"/>
            <a:ext cx="320040" cy="320040"/>
          </a:xfrm>
          <a:prstGeom prst="rect">
            <a:avLst/>
          </a:prstGeom>
        </p:spPr>
      </p:pic>
      <p:sp>
        <p:nvSpPr>
          <p:cNvPr id="7" name="Text 4"/>
          <p:cNvSpPr txBox="1"/>
          <p:nvPr/>
        </p:nvSpPr>
        <p:spPr>
          <a:xfrm>
            <a:off x="1691640" y="1645920"/>
            <a:ext cx="4023360" cy="365760"/>
          </a:xfrm>
          <a:prstGeom prst="rect">
            <a:avLst/>
          </a:prstGeom>
          <a:noFill/>
          <a:ln/>
        </p:spPr>
        <p:txBody>
          <a:bodyPr wrap="square" lIns="0" tIns="0" rIns="0" bIns="0" rtlCol="0" anchor="t"/>
          <a:lstStyle/>
          <a:p>
            <a:pPr algn="l" indent="0" marL="0">
              <a:buNone/>
            </a:pPr>
            <a:r>
              <a:rPr lang="en-US" sz="1600" b="1" dirty="0">
                <a:solidFill>
                  <a:srgbClr val="0F2A33"/>
                </a:solidFill>
                <a:latin typeface="Calibri" pitchFamily="34" charset="0"/>
                <a:ea typeface="Calibri" pitchFamily="34" charset="-122"/>
                <a:cs typeface="Calibri" pitchFamily="34" charset="-120"/>
              </a:rPr>
              <a:t>A clean dataset</a:t>
            </a:r>
            <a:endParaRPr lang="en-US" sz="1600" dirty="0"/>
          </a:p>
        </p:txBody>
      </p:sp>
      <p:sp>
        <p:nvSpPr>
          <p:cNvPr id="8" name="Text 5"/>
          <p:cNvSpPr txBox="1"/>
          <p:nvPr/>
        </p:nvSpPr>
        <p:spPr>
          <a:xfrm>
            <a:off x="1691640" y="2057400"/>
            <a:ext cx="4023360" cy="73152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Few duplicates, no missing values, and no inconsistencies.</a:t>
            </a:r>
            <a:endParaRPr lang="en-US" sz="1400" dirty="0"/>
          </a:p>
        </p:txBody>
      </p:sp>
      <p:sp>
        <p:nvSpPr>
          <p:cNvPr id="9" name="Shape 6"/>
          <p:cNvSpPr/>
          <p:nvPr/>
        </p:nvSpPr>
        <p:spPr>
          <a:xfrm>
            <a:off x="6217920" y="1508760"/>
            <a:ext cx="5394960" cy="1371600"/>
          </a:xfrm>
          <a:prstGeom prst="roundRect">
            <a:avLst>
              <a:gd name="adj" fmla="val 80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6492240" y="1874520"/>
            <a:ext cx="640080" cy="640080"/>
          </a:xfrm>
          <a:prstGeom prst="ellipse">
            <a:avLst/>
          </a:prstGeom>
          <a:solidFill>
            <a:srgbClr val="FDF0DC"/>
          </a:solidFill>
          <a:ln/>
        </p:spPr>
      </p:sp>
      <p:pic>
        <p:nvPicPr>
          <p:cNvPr id="11" name="Image 1" descr="preencoded.png">    </p:cNvPr>
          <p:cNvPicPr>
            <a:picLocks noChangeAspect="1"/>
          </p:cNvPicPr>
          <p:nvPr/>
        </p:nvPicPr>
        <p:blipFill>
          <a:blip r:embed="rId2"/>
          <a:stretch>
            <a:fillRect/>
          </a:stretch>
        </p:blipFill>
        <p:spPr>
          <a:xfrm>
            <a:off x="6652260" y="2034540"/>
            <a:ext cx="320040" cy="320040"/>
          </a:xfrm>
          <a:prstGeom prst="rect">
            <a:avLst/>
          </a:prstGeom>
        </p:spPr>
      </p:pic>
      <p:sp>
        <p:nvSpPr>
          <p:cNvPr id="12" name="Text 8"/>
          <p:cNvSpPr txBox="1"/>
          <p:nvPr/>
        </p:nvSpPr>
        <p:spPr>
          <a:xfrm>
            <a:off x="7360920" y="1645920"/>
            <a:ext cx="4023360" cy="365760"/>
          </a:xfrm>
          <a:prstGeom prst="rect">
            <a:avLst/>
          </a:prstGeom>
          <a:noFill/>
          <a:ln/>
        </p:spPr>
        <p:txBody>
          <a:bodyPr wrap="square" lIns="0" tIns="0" rIns="0" bIns="0" rtlCol="0" anchor="t"/>
          <a:lstStyle/>
          <a:p>
            <a:pPr algn="l" indent="0" marL="0">
              <a:buNone/>
            </a:pPr>
            <a:r>
              <a:rPr lang="en-US" sz="1600" b="1" dirty="0">
                <a:solidFill>
                  <a:srgbClr val="0F2A33"/>
                </a:solidFill>
                <a:latin typeface="Calibri" pitchFamily="34" charset="0"/>
                <a:ea typeface="Calibri" pitchFamily="34" charset="-122"/>
                <a:cs typeface="Calibri" pitchFamily="34" charset="-120"/>
              </a:rPr>
              <a:t>The key challenge</a:t>
            </a:r>
            <a:endParaRPr lang="en-US" sz="1600" dirty="0"/>
          </a:p>
        </p:txBody>
      </p:sp>
      <p:sp>
        <p:nvSpPr>
          <p:cNvPr id="13" name="Text 9"/>
          <p:cNvSpPr txBox="1"/>
          <p:nvPr/>
        </p:nvSpPr>
        <p:spPr>
          <a:xfrm>
            <a:off x="7360920" y="2057400"/>
            <a:ext cx="4023360" cy="77724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2024 categorical data used text labels, whereas the 2023 dataset used coded labels in the format Code. Label.</a:t>
            </a:r>
            <a:endParaRPr lang="en-US" sz="1400" dirty="0"/>
          </a:p>
        </p:txBody>
      </p:sp>
      <p:sp>
        <p:nvSpPr>
          <p:cNvPr id="14" name="Shape 10"/>
          <p:cNvSpPr/>
          <p:nvPr/>
        </p:nvSpPr>
        <p:spPr>
          <a:xfrm>
            <a:off x="548640" y="3108960"/>
            <a:ext cx="2468880" cy="1691640"/>
          </a:xfrm>
          <a:prstGeom prst="roundRect">
            <a:avLst>
              <a:gd name="adj" fmla="val 6486"/>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5" name="Text 11"/>
          <p:cNvSpPr txBox="1"/>
          <p:nvPr/>
        </p:nvSpPr>
        <p:spPr>
          <a:xfrm>
            <a:off x="731520" y="3200400"/>
            <a:ext cx="210312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Two formats</a:t>
            </a:r>
            <a:endParaRPr lang="en-US" sz="1500" dirty="0"/>
          </a:p>
        </p:txBody>
      </p:sp>
      <p:sp>
        <p:nvSpPr>
          <p:cNvPr id="16" name="Text 12"/>
          <p:cNvSpPr txBox="1"/>
          <p:nvPr/>
        </p:nvSpPr>
        <p:spPr>
          <a:xfrm>
            <a:off x="731520" y="3611880"/>
            <a:ext cx="2148840" cy="1143000"/>
          </a:xfrm>
          <a:prstGeom prst="rect">
            <a:avLst/>
          </a:prstGeom>
          <a:noFill/>
          <a:ln/>
        </p:spPr>
        <p:txBody>
          <a:bodyPr wrap="square" lIns="0" tIns="0" rIns="0" bIns="0" rtlCol="0" anchor="t"/>
          <a:lstStyle/>
          <a:p>
            <a:pPr algn="l" indent="0" marL="0">
              <a:buNone/>
            </a:pPr>
            <a:r>
              <a:rPr lang="en-US" sz="1200" dirty="0">
                <a:solidFill>
                  <a:srgbClr val="1B2B33"/>
                </a:solidFill>
                <a:latin typeface="Calibri" pitchFamily="34" charset="0"/>
                <a:ea typeface="Calibri" pitchFamily="34" charset="-122"/>
                <a:cs typeface="Calibri" pitchFamily="34" charset="-120"/>
              </a:rPr>
              <a:t>2023 dataset: Code. Label</a:t>
            </a:r>
            <a:endParaRPr lang="en-US" sz="1200" dirty="0"/>
          </a:p>
          <a:p>
            <a:pPr algn="l" indent="0" marL="0">
              <a:buNone/>
            </a:pPr>
            <a:r>
              <a:rPr lang="en-US" sz="1200" dirty="0">
                <a:solidFill>
                  <a:srgbClr val="1B2B33"/>
                </a:solidFill>
                <a:latin typeface="Calibri" pitchFamily="34" charset="0"/>
                <a:ea typeface="Calibri" pitchFamily="34" charset="-122"/>
                <a:cs typeface="Calibri" pitchFamily="34" charset="-120"/>
              </a:rPr>
              <a:t>2024 dataset: Label</a:t>
            </a:r>
            <a:endParaRPr lang="en-US" sz="1200" dirty="0"/>
          </a:p>
        </p:txBody>
      </p:sp>
      <p:pic>
        <p:nvPicPr>
          <p:cNvPr id="17" name="Image 2" descr="preencoded.png">    </p:cNvPr>
          <p:cNvPicPr>
            <a:picLocks noChangeAspect="1"/>
          </p:cNvPicPr>
          <p:nvPr/>
        </p:nvPicPr>
        <p:blipFill>
          <a:blip r:embed="rId3"/>
          <a:stretch>
            <a:fillRect/>
          </a:stretch>
        </p:blipFill>
        <p:spPr>
          <a:xfrm>
            <a:off x="3090672" y="3813048"/>
            <a:ext cx="292608" cy="292608"/>
          </a:xfrm>
          <a:prstGeom prst="rect">
            <a:avLst/>
          </a:prstGeom>
        </p:spPr>
      </p:pic>
      <p:sp>
        <p:nvSpPr>
          <p:cNvPr id="18" name="Shape 13"/>
          <p:cNvSpPr/>
          <p:nvPr/>
        </p:nvSpPr>
        <p:spPr>
          <a:xfrm>
            <a:off x="3474720" y="3108960"/>
            <a:ext cx="2468880" cy="1691640"/>
          </a:xfrm>
          <a:prstGeom prst="roundRect">
            <a:avLst>
              <a:gd name="adj" fmla="val 6486"/>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9" name="Text 14"/>
          <p:cNvSpPr txBox="1"/>
          <p:nvPr/>
        </p:nvSpPr>
        <p:spPr>
          <a:xfrm>
            <a:off x="3657600" y="3200400"/>
            <a:ext cx="210312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Mapping logic</a:t>
            </a:r>
            <a:endParaRPr lang="en-US" sz="1500" dirty="0"/>
          </a:p>
        </p:txBody>
      </p:sp>
      <p:sp>
        <p:nvSpPr>
          <p:cNvPr id="20" name="Text 15"/>
          <p:cNvSpPr txBox="1"/>
          <p:nvPr/>
        </p:nvSpPr>
        <p:spPr>
          <a:xfrm>
            <a:off x="3657600" y="3611880"/>
            <a:ext cx="2148840" cy="1143000"/>
          </a:xfrm>
          <a:prstGeom prst="rect">
            <a:avLst/>
          </a:prstGeom>
          <a:noFill/>
          <a:ln/>
        </p:spPr>
        <p:txBody>
          <a:bodyPr wrap="square" lIns="0" tIns="0" rIns="0" bIns="0" rtlCol="0" anchor="t"/>
          <a:lstStyle/>
          <a:p>
            <a:pPr algn="l" indent="0" marL="0">
              <a:buNone/>
            </a:pPr>
            <a:r>
              <a:rPr lang="en-US" sz="1200" dirty="0">
                <a:solidFill>
                  <a:srgbClr val="1B2B33"/>
                </a:solidFill>
                <a:latin typeface="Calibri" pitchFamily="34" charset="0"/>
                <a:ea typeface="Calibri" pitchFamily="34" charset="-122"/>
                <a:cs typeface="Calibri" pitchFamily="34" charset="-120"/>
              </a:rPr>
              <a:t>Match 2024 labels to 2023 codes. Labels not encoded were mapped manually using the dataset guide.</a:t>
            </a:r>
            <a:endParaRPr lang="en-US" sz="1200" dirty="0"/>
          </a:p>
        </p:txBody>
      </p:sp>
      <p:pic>
        <p:nvPicPr>
          <p:cNvPr id="21" name="Image 3" descr="preencoded.png">    </p:cNvPr>
          <p:cNvPicPr>
            <a:picLocks noChangeAspect="1"/>
          </p:cNvPicPr>
          <p:nvPr/>
        </p:nvPicPr>
        <p:blipFill>
          <a:blip r:embed="rId4"/>
          <a:stretch>
            <a:fillRect/>
          </a:stretch>
        </p:blipFill>
        <p:spPr>
          <a:xfrm>
            <a:off x="6016752" y="3813048"/>
            <a:ext cx="292608" cy="292608"/>
          </a:xfrm>
          <a:prstGeom prst="rect">
            <a:avLst/>
          </a:prstGeom>
        </p:spPr>
      </p:pic>
      <p:sp>
        <p:nvSpPr>
          <p:cNvPr id="22" name="Shape 16"/>
          <p:cNvSpPr/>
          <p:nvPr/>
        </p:nvSpPr>
        <p:spPr>
          <a:xfrm>
            <a:off x="6400800" y="3108960"/>
            <a:ext cx="2468880" cy="1691640"/>
          </a:xfrm>
          <a:prstGeom prst="roundRect">
            <a:avLst>
              <a:gd name="adj" fmla="val 6486"/>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3" name="Text 17"/>
          <p:cNvSpPr txBox="1"/>
          <p:nvPr/>
        </p:nvSpPr>
        <p:spPr>
          <a:xfrm>
            <a:off x="6583680" y="3200400"/>
            <a:ext cx="210312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Aligned data</a:t>
            </a:r>
            <a:endParaRPr lang="en-US" sz="1500" dirty="0"/>
          </a:p>
        </p:txBody>
      </p:sp>
      <p:sp>
        <p:nvSpPr>
          <p:cNvPr id="24" name="Text 18"/>
          <p:cNvSpPr txBox="1"/>
          <p:nvPr/>
        </p:nvSpPr>
        <p:spPr>
          <a:xfrm>
            <a:off x="6583680" y="3611880"/>
            <a:ext cx="2148840" cy="1143000"/>
          </a:xfrm>
          <a:prstGeom prst="rect">
            <a:avLst/>
          </a:prstGeom>
          <a:noFill/>
          <a:ln/>
        </p:spPr>
        <p:txBody>
          <a:bodyPr wrap="square" lIns="0" tIns="0" rIns="0" bIns="0" rtlCol="0" anchor="t"/>
          <a:lstStyle/>
          <a:p>
            <a:pPr algn="l" indent="0" marL="0">
              <a:buNone/>
            </a:pPr>
            <a:r>
              <a:rPr lang="en-US" sz="1200" dirty="0">
                <a:solidFill>
                  <a:srgbClr val="1B2B33"/>
                </a:solidFill>
                <a:latin typeface="Calibri" pitchFamily="34" charset="0"/>
                <a:ea typeface="Calibri" pitchFamily="34" charset="-122"/>
                <a:cs typeface="Calibri" pitchFamily="34" charset="-120"/>
              </a:rPr>
              <a:t>2024 data transformed into the format Code. Label.</a:t>
            </a:r>
            <a:endParaRPr lang="en-US" sz="1200" dirty="0"/>
          </a:p>
        </p:txBody>
      </p:sp>
      <p:pic>
        <p:nvPicPr>
          <p:cNvPr id="25" name="Image 4" descr="preencoded.png">    </p:cNvPr>
          <p:cNvPicPr>
            <a:picLocks noChangeAspect="1"/>
          </p:cNvPicPr>
          <p:nvPr/>
        </p:nvPicPr>
        <p:blipFill>
          <a:blip r:embed="rId5"/>
          <a:stretch>
            <a:fillRect/>
          </a:stretch>
        </p:blipFill>
        <p:spPr>
          <a:xfrm>
            <a:off x="8942832" y="3813048"/>
            <a:ext cx="292608" cy="292608"/>
          </a:xfrm>
          <a:prstGeom prst="rect">
            <a:avLst/>
          </a:prstGeom>
        </p:spPr>
      </p:pic>
      <p:sp>
        <p:nvSpPr>
          <p:cNvPr id="26" name="Shape 19"/>
          <p:cNvSpPr/>
          <p:nvPr/>
        </p:nvSpPr>
        <p:spPr>
          <a:xfrm>
            <a:off x="9326880" y="3108960"/>
            <a:ext cx="2468880" cy="1691640"/>
          </a:xfrm>
          <a:prstGeom prst="roundRect">
            <a:avLst>
              <a:gd name="adj" fmla="val 6486"/>
            </a:avLst>
          </a:prstGeom>
          <a:solidFill>
            <a:srgbClr val="0F2A33"/>
          </a:solidFill>
          <a:ln/>
          <a:effectLst>
            <a:outerShdw sx="100000" sy="100000" kx="0" ky="0" algn="bl" rotWithShape="0" blurRad="101600" dist="25400" dir="5400000">
              <a:srgbClr val="000000">
                <a:alpha val="8000"/>
              </a:srgbClr>
            </a:outerShdw>
          </a:effectLst>
        </p:spPr>
      </p:sp>
      <p:sp>
        <p:nvSpPr>
          <p:cNvPr id="27" name="Text 20"/>
          <p:cNvSpPr txBox="1"/>
          <p:nvPr/>
        </p:nvSpPr>
        <p:spPr>
          <a:xfrm>
            <a:off x="9509760" y="3200400"/>
            <a:ext cx="2103120" cy="365760"/>
          </a:xfrm>
          <a:prstGeom prst="rect">
            <a:avLst/>
          </a:prstGeom>
          <a:noFill/>
          <a:ln/>
        </p:spPr>
        <p:txBody>
          <a:bodyPr wrap="square" lIns="0" tIns="0" rIns="0" bIns="0" rtlCol="0" anchor="ctr"/>
          <a:lstStyle/>
          <a:p>
            <a:pPr algn="l" indent="0" marL="0">
              <a:buNone/>
            </a:pPr>
            <a:r>
              <a:rPr lang="en-US" sz="1500" b="1" dirty="0">
                <a:solidFill>
                  <a:srgbClr val="F2A03D"/>
                </a:solidFill>
                <a:latin typeface="Cambria" pitchFamily="34" charset="0"/>
                <a:ea typeface="Cambria" pitchFamily="34" charset="-122"/>
                <a:cs typeface="Cambria" pitchFamily="34" charset="-120"/>
              </a:rPr>
              <a:t>ML-ready</a:t>
            </a:r>
            <a:endParaRPr lang="en-US" sz="1500" dirty="0"/>
          </a:p>
        </p:txBody>
      </p:sp>
      <p:sp>
        <p:nvSpPr>
          <p:cNvPr id="28" name="Text 21"/>
          <p:cNvSpPr txBox="1"/>
          <p:nvPr/>
        </p:nvSpPr>
        <p:spPr>
          <a:xfrm>
            <a:off x="9509760" y="3611880"/>
            <a:ext cx="2148840" cy="11430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Only the code values are extracted, converting categoricals to numbers for ML algorithms.</a:t>
            </a:r>
            <a:endParaRPr lang="en-US" sz="1200" dirty="0"/>
          </a:p>
        </p:txBody>
      </p:sp>
      <p:sp>
        <p:nvSpPr>
          <p:cNvPr id="29" name="Shape 22"/>
          <p:cNvSpPr/>
          <p:nvPr/>
        </p:nvSpPr>
        <p:spPr>
          <a:xfrm>
            <a:off x="548640" y="5029200"/>
            <a:ext cx="3566160" cy="1234440"/>
          </a:xfrm>
          <a:prstGeom prst="roundRect">
            <a:avLst>
              <a:gd name="adj" fmla="val 8889"/>
            </a:avLst>
          </a:prstGeom>
          <a:solidFill>
            <a:srgbClr val="E2F0F1"/>
          </a:solidFill>
          <a:ln/>
        </p:spPr>
      </p:sp>
      <p:sp>
        <p:nvSpPr>
          <p:cNvPr id="30" name="Shape 23"/>
          <p:cNvSpPr/>
          <p:nvPr/>
        </p:nvSpPr>
        <p:spPr>
          <a:xfrm>
            <a:off x="777240" y="5468112"/>
            <a:ext cx="365760" cy="365760"/>
          </a:xfrm>
          <a:prstGeom prst="ellipse">
            <a:avLst/>
          </a:prstGeom>
          <a:solidFill>
            <a:srgbClr val="1F7A80"/>
          </a:solidFill>
          <a:ln/>
        </p:spPr>
      </p:sp>
      <p:pic>
        <p:nvPicPr>
          <p:cNvPr id="31" name="Image 5" descr="preencoded.png">    </p:cNvPr>
          <p:cNvPicPr>
            <a:picLocks noChangeAspect="1"/>
          </p:cNvPicPr>
          <p:nvPr/>
        </p:nvPicPr>
        <p:blipFill>
          <a:blip r:embed="rId6"/>
          <a:stretch>
            <a:fillRect/>
          </a:stretch>
        </p:blipFill>
        <p:spPr>
          <a:xfrm>
            <a:off x="868680" y="5559552"/>
            <a:ext cx="182880" cy="182880"/>
          </a:xfrm>
          <a:prstGeom prst="rect">
            <a:avLst/>
          </a:prstGeom>
        </p:spPr>
      </p:pic>
      <p:sp>
        <p:nvSpPr>
          <p:cNvPr id="32" name="Text 24"/>
          <p:cNvSpPr txBox="1"/>
          <p:nvPr/>
        </p:nvSpPr>
        <p:spPr>
          <a:xfrm>
            <a:off x="1325880" y="5029200"/>
            <a:ext cx="2651760" cy="1234440"/>
          </a:xfrm>
          <a:prstGeom prst="rect">
            <a:avLst/>
          </a:prstGeom>
          <a:noFill/>
          <a:ln/>
        </p:spPr>
        <p:txBody>
          <a:bodyPr wrap="square" lIns="0" tIns="0" rIns="0" bIns="0" rtlCol="0" anchor="ctr"/>
          <a:lstStyle/>
          <a:p>
            <a:pPr algn="l" indent="0" marL="0">
              <a:buNone/>
            </a:pPr>
            <a:r>
              <a:rPr lang="en-US" sz="1300" dirty="0">
                <a:solidFill>
                  <a:srgbClr val="0F2A33"/>
                </a:solidFill>
                <a:latin typeface="Calibri" pitchFamily="34" charset="0"/>
                <a:ea typeface="Calibri" pitchFamily="34" charset="-122"/>
                <a:cs typeface="Calibri" pitchFamily="34" charset="-120"/>
              </a:rPr>
              <a:t>Ensures consistent, standardized categories across the data.</a:t>
            </a:r>
            <a:endParaRPr lang="en-US" sz="1300" dirty="0"/>
          </a:p>
        </p:txBody>
      </p:sp>
      <p:sp>
        <p:nvSpPr>
          <p:cNvPr id="33" name="Shape 25"/>
          <p:cNvSpPr/>
          <p:nvPr/>
        </p:nvSpPr>
        <p:spPr>
          <a:xfrm>
            <a:off x="4389120" y="5029200"/>
            <a:ext cx="3566160" cy="1234440"/>
          </a:xfrm>
          <a:prstGeom prst="roundRect">
            <a:avLst>
              <a:gd name="adj" fmla="val 8889"/>
            </a:avLst>
          </a:prstGeom>
          <a:solidFill>
            <a:srgbClr val="E2F0F1"/>
          </a:solidFill>
          <a:ln/>
        </p:spPr>
      </p:sp>
      <p:sp>
        <p:nvSpPr>
          <p:cNvPr id="34" name="Shape 26"/>
          <p:cNvSpPr/>
          <p:nvPr/>
        </p:nvSpPr>
        <p:spPr>
          <a:xfrm>
            <a:off x="4617720" y="5468112"/>
            <a:ext cx="365760" cy="365760"/>
          </a:xfrm>
          <a:prstGeom prst="ellipse">
            <a:avLst/>
          </a:prstGeom>
          <a:solidFill>
            <a:srgbClr val="1F7A80"/>
          </a:solidFill>
          <a:ln/>
        </p:spPr>
      </p:sp>
      <p:pic>
        <p:nvPicPr>
          <p:cNvPr id="35" name="Image 6" descr="preencoded.png">    </p:cNvPr>
          <p:cNvPicPr>
            <a:picLocks noChangeAspect="1"/>
          </p:cNvPicPr>
          <p:nvPr/>
        </p:nvPicPr>
        <p:blipFill>
          <a:blip r:embed="rId7"/>
          <a:stretch>
            <a:fillRect/>
          </a:stretch>
        </p:blipFill>
        <p:spPr>
          <a:xfrm>
            <a:off x="4709160" y="5559552"/>
            <a:ext cx="182880" cy="182880"/>
          </a:xfrm>
          <a:prstGeom prst="rect">
            <a:avLst/>
          </a:prstGeom>
        </p:spPr>
      </p:pic>
      <p:sp>
        <p:nvSpPr>
          <p:cNvPr id="36" name="Text 27"/>
          <p:cNvSpPr txBox="1"/>
          <p:nvPr/>
        </p:nvSpPr>
        <p:spPr>
          <a:xfrm>
            <a:off x="5166360" y="5029200"/>
            <a:ext cx="2651760" cy="1234440"/>
          </a:xfrm>
          <a:prstGeom prst="rect">
            <a:avLst/>
          </a:prstGeom>
          <a:noFill/>
          <a:ln/>
        </p:spPr>
        <p:txBody>
          <a:bodyPr wrap="square" lIns="0" tIns="0" rIns="0" bIns="0" rtlCol="0" anchor="ctr"/>
          <a:lstStyle/>
          <a:p>
            <a:pPr algn="l" indent="0" marL="0">
              <a:buNone/>
            </a:pPr>
            <a:r>
              <a:rPr lang="en-US" sz="1300" dirty="0">
                <a:solidFill>
                  <a:srgbClr val="0F2A33"/>
                </a:solidFill>
                <a:latin typeface="Calibri" pitchFamily="34" charset="0"/>
                <a:ea typeface="Calibri" pitchFamily="34" charset="-122"/>
                <a:cs typeface="Calibri" pitchFamily="34" charset="-120"/>
              </a:rPr>
              <a:t>Helps identify unexpected or missing categories that need review.</a:t>
            </a:r>
            <a:endParaRPr lang="en-US" sz="1300" dirty="0"/>
          </a:p>
        </p:txBody>
      </p:sp>
      <p:sp>
        <p:nvSpPr>
          <p:cNvPr id="37" name="Shape 28"/>
          <p:cNvSpPr/>
          <p:nvPr/>
        </p:nvSpPr>
        <p:spPr>
          <a:xfrm>
            <a:off x="8229600" y="5029200"/>
            <a:ext cx="3566160" cy="1234440"/>
          </a:xfrm>
          <a:prstGeom prst="roundRect">
            <a:avLst>
              <a:gd name="adj" fmla="val 8889"/>
            </a:avLst>
          </a:prstGeom>
          <a:solidFill>
            <a:srgbClr val="E2F0F1"/>
          </a:solidFill>
          <a:ln/>
        </p:spPr>
      </p:sp>
      <p:sp>
        <p:nvSpPr>
          <p:cNvPr id="38" name="Shape 29"/>
          <p:cNvSpPr/>
          <p:nvPr/>
        </p:nvSpPr>
        <p:spPr>
          <a:xfrm>
            <a:off x="8458200" y="5468112"/>
            <a:ext cx="365760" cy="365760"/>
          </a:xfrm>
          <a:prstGeom prst="ellipse">
            <a:avLst/>
          </a:prstGeom>
          <a:solidFill>
            <a:srgbClr val="1F7A80"/>
          </a:solidFill>
          <a:ln/>
        </p:spPr>
      </p:sp>
      <p:pic>
        <p:nvPicPr>
          <p:cNvPr id="39" name="Image 7" descr="preencoded.png">    </p:cNvPr>
          <p:cNvPicPr>
            <a:picLocks noChangeAspect="1"/>
          </p:cNvPicPr>
          <p:nvPr/>
        </p:nvPicPr>
        <p:blipFill>
          <a:blip r:embed="rId8"/>
          <a:stretch>
            <a:fillRect/>
          </a:stretch>
        </p:blipFill>
        <p:spPr>
          <a:xfrm>
            <a:off x="8549640" y="5559552"/>
            <a:ext cx="182880" cy="182880"/>
          </a:xfrm>
          <a:prstGeom prst="rect">
            <a:avLst/>
          </a:prstGeom>
        </p:spPr>
      </p:pic>
      <p:sp>
        <p:nvSpPr>
          <p:cNvPr id="40" name="Text 30"/>
          <p:cNvSpPr txBox="1"/>
          <p:nvPr/>
        </p:nvSpPr>
        <p:spPr>
          <a:xfrm>
            <a:off x="9006840" y="5029200"/>
            <a:ext cx="2651760" cy="1234440"/>
          </a:xfrm>
          <a:prstGeom prst="rect">
            <a:avLst/>
          </a:prstGeom>
          <a:noFill/>
          <a:ln/>
        </p:spPr>
        <p:txBody>
          <a:bodyPr wrap="square" lIns="0" tIns="0" rIns="0" bIns="0" rtlCol="0" anchor="ctr"/>
          <a:lstStyle/>
          <a:p>
            <a:pPr algn="l" indent="0" marL="0">
              <a:buNone/>
            </a:pPr>
            <a:r>
              <a:rPr lang="en-US" sz="1300" dirty="0">
                <a:solidFill>
                  <a:srgbClr val="0F2A33"/>
                </a:solidFill>
                <a:latin typeface="Calibri" pitchFamily="34" charset="0"/>
                <a:ea typeface="Calibri" pitchFamily="34" charset="-122"/>
                <a:cs typeface="Calibri" pitchFamily="34" charset="-120"/>
              </a:rPr>
              <a:t>Improves data quality for better analysis, reporting and machine learning.</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Clear Project Deliverables (cont.)</a:t>
            </a:r>
            <a:endParaRPr lang="en-US" sz="3200" dirty="0"/>
          </a:p>
        </p:txBody>
      </p:sp>
      <p:sp>
        <p:nvSpPr>
          <p:cNvPr id="4" name="Shape 2"/>
          <p:cNvSpPr/>
          <p:nvPr/>
        </p:nvSpPr>
        <p:spPr>
          <a:xfrm>
            <a:off x="548640" y="1463040"/>
            <a:ext cx="3611880" cy="2240280"/>
          </a:xfrm>
          <a:prstGeom prst="roundRect">
            <a:avLst>
              <a:gd name="adj" fmla="val 489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31520" y="1645920"/>
            <a:ext cx="502920" cy="502920"/>
          </a:xfrm>
          <a:prstGeom prst="ellipse">
            <a:avLst/>
          </a:prstGeom>
          <a:solidFill>
            <a:srgbClr val="0F2A33"/>
          </a:solidFill>
          <a:ln/>
        </p:spPr>
        <p:txBody>
          <a:bodyPr wrap="square" lIns="0" tIns="0" rIns="0" bIns="0" rtlCol="0" anchor="ctr"/>
          <a:lstStyle/>
          <a:p>
            <a:pPr algn="ctr" indent="0" marL="0">
              <a:buNone/>
            </a:pPr>
            <a:r>
              <a:rPr lang="en-US" sz="1600" b="1" dirty="0">
                <a:solidFill>
                  <a:srgbClr val="F2A03D"/>
                </a:solidFill>
                <a:latin typeface="Cambria" pitchFamily="34" charset="0"/>
                <a:ea typeface="Cambria" pitchFamily="34" charset="-122"/>
                <a:cs typeface="Cambria" pitchFamily="34" charset="-120"/>
              </a:rPr>
              <a:t>3</a:t>
            </a:r>
            <a:endParaRPr lang="en-US" sz="1600" dirty="0"/>
          </a:p>
        </p:txBody>
      </p:sp>
      <p:sp>
        <p:nvSpPr>
          <p:cNvPr id="6" name="Text 4"/>
          <p:cNvSpPr txBox="1"/>
          <p:nvPr/>
        </p:nvSpPr>
        <p:spPr>
          <a:xfrm>
            <a:off x="1371600" y="1645920"/>
            <a:ext cx="2651760" cy="502920"/>
          </a:xfrm>
          <a:prstGeom prst="rect">
            <a:avLst/>
          </a:prstGeom>
          <a:noFill/>
          <a:ln/>
        </p:spPr>
        <p:txBody>
          <a:bodyPr wrap="square" lIns="0" tIns="0" rIns="0" bIns="0" rtlCol="0" anchor="ctr"/>
          <a:lstStyle/>
          <a:p>
            <a:pPr algn="l" indent="0" marL="0">
              <a:buNone/>
            </a:pPr>
            <a:r>
              <a:rPr lang="en-US" sz="1500" b="1" dirty="0">
                <a:solidFill>
                  <a:srgbClr val="0F2A33"/>
                </a:solidFill>
                <a:latin typeface="Cambria" pitchFamily="34" charset="0"/>
                <a:ea typeface="Cambria" pitchFamily="34" charset="-122"/>
                <a:cs typeface="Cambria" pitchFamily="34" charset="-120"/>
              </a:rPr>
              <a:t>Exploratory Data Analysis</a:t>
            </a:r>
            <a:endParaRPr lang="en-US" sz="1500" dirty="0"/>
          </a:p>
        </p:txBody>
      </p:sp>
      <p:sp>
        <p:nvSpPr>
          <p:cNvPr id="7" name="Text 5"/>
          <p:cNvSpPr txBox="1"/>
          <p:nvPr/>
        </p:nvSpPr>
        <p:spPr>
          <a:xfrm>
            <a:off x="777240" y="2240280"/>
            <a:ext cx="3200400" cy="1417320"/>
          </a:xfrm>
          <a:prstGeom prst="rect">
            <a:avLst/>
          </a:prstGeom>
          <a:noFill/>
          <a:ln/>
        </p:spPr>
        <p:txBody>
          <a:bodyPr wrap="square" lIns="0" tIns="0" rIns="0" bIns="0" rtlCol="0" anchor="t"/>
          <a:lstStyle/>
          <a:p>
            <a:pPr algn="l" indent="0" marL="0">
              <a:buNone/>
            </a:pPr>
            <a:r>
              <a:rPr lang="en-US" sz="1250" dirty="0">
                <a:solidFill>
                  <a:srgbClr val="1B2B33"/>
                </a:solidFill>
                <a:latin typeface="Calibri" pitchFamily="34" charset="0"/>
                <a:ea typeface="Calibri" pitchFamily="34" charset="-122"/>
                <a:cs typeface="Calibri" pitchFamily="34" charset="-120"/>
              </a:rPr>
              <a:t>EDA was conducted to uncover patterns, trends, and key variables related to fatherlessness. Both statistical methods and visualizations were used to understand the relationships in the data.</a:t>
            </a:r>
            <a:endParaRPr lang="en-US" sz="1250" dirty="0"/>
          </a:p>
        </p:txBody>
      </p:sp>
      <p:sp>
        <p:nvSpPr>
          <p:cNvPr id="8" name="Shape 6"/>
          <p:cNvSpPr/>
          <p:nvPr/>
        </p:nvSpPr>
        <p:spPr>
          <a:xfrm>
            <a:off x="4389120" y="1463040"/>
            <a:ext cx="3611880" cy="2240280"/>
          </a:xfrm>
          <a:prstGeom prst="roundRect">
            <a:avLst>
              <a:gd name="adj" fmla="val 489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9" name="Text 7"/>
          <p:cNvSpPr/>
          <p:nvPr/>
        </p:nvSpPr>
        <p:spPr>
          <a:xfrm>
            <a:off x="4572000" y="1645920"/>
            <a:ext cx="502920" cy="502920"/>
          </a:xfrm>
          <a:prstGeom prst="ellipse">
            <a:avLst/>
          </a:prstGeom>
          <a:solidFill>
            <a:srgbClr val="0F2A33"/>
          </a:solidFill>
          <a:ln/>
        </p:spPr>
        <p:txBody>
          <a:bodyPr wrap="square" lIns="0" tIns="0" rIns="0" bIns="0" rtlCol="0" anchor="ctr"/>
          <a:lstStyle/>
          <a:p>
            <a:pPr algn="ctr" indent="0" marL="0">
              <a:buNone/>
            </a:pPr>
            <a:r>
              <a:rPr lang="en-US" sz="1600" b="1" dirty="0">
                <a:solidFill>
                  <a:srgbClr val="F2A03D"/>
                </a:solidFill>
                <a:latin typeface="Cambria" pitchFamily="34" charset="0"/>
                <a:ea typeface="Cambria" pitchFamily="34" charset="-122"/>
                <a:cs typeface="Cambria" pitchFamily="34" charset="-120"/>
              </a:rPr>
              <a:t>4</a:t>
            </a:r>
            <a:endParaRPr lang="en-US" sz="1600" dirty="0"/>
          </a:p>
        </p:txBody>
      </p:sp>
      <p:sp>
        <p:nvSpPr>
          <p:cNvPr id="10" name="Text 8"/>
          <p:cNvSpPr txBox="1"/>
          <p:nvPr/>
        </p:nvSpPr>
        <p:spPr>
          <a:xfrm>
            <a:off x="5212080" y="1645920"/>
            <a:ext cx="2651760" cy="502920"/>
          </a:xfrm>
          <a:prstGeom prst="rect">
            <a:avLst/>
          </a:prstGeom>
          <a:noFill/>
          <a:ln/>
        </p:spPr>
        <p:txBody>
          <a:bodyPr wrap="square" lIns="0" tIns="0" rIns="0" bIns="0" rtlCol="0" anchor="ctr"/>
          <a:lstStyle/>
          <a:p>
            <a:pPr algn="l" indent="0" marL="0">
              <a:buNone/>
            </a:pPr>
            <a:r>
              <a:rPr lang="en-US" sz="1500" b="1" dirty="0">
                <a:solidFill>
                  <a:srgbClr val="0F2A33"/>
                </a:solidFill>
                <a:latin typeface="Cambria" pitchFamily="34" charset="0"/>
                <a:ea typeface="Cambria" pitchFamily="34" charset="-122"/>
                <a:cs typeface="Cambria" pitchFamily="34" charset="-120"/>
              </a:rPr>
              <a:t>Machine learning models</a:t>
            </a:r>
            <a:endParaRPr lang="en-US" sz="1500" dirty="0"/>
          </a:p>
        </p:txBody>
      </p:sp>
      <p:sp>
        <p:nvSpPr>
          <p:cNvPr id="11" name="Text 9"/>
          <p:cNvSpPr txBox="1"/>
          <p:nvPr/>
        </p:nvSpPr>
        <p:spPr>
          <a:xfrm>
            <a:off x="4617720" y="2240280"/>
            <a:ext cx="3200400" cy="1417320"/>
          </a:xfrm>
          <a:prstGeom prst="rect">
            <a:avLst/>
          </a:prstGeom>
          <a:noFill/>
          <a:ln/>
        </p:spPr>
        <p:txBody>
          <a:bodyPr wrap="square" lIns="0" tIns="0" rIns="0" bIns="0" rtlCol="0" anchor="t"/>
          <a:lstStyle/>
          <a:p>
            <a:pPr algn="l" indent="0" marL="0">
              <a:buNone/>
            </a:pPr>
            <a:r>
              <a:rPr lang="en-US" sz="1250" dirty="0">
                <a:solidFill>
                  <a:srgbClr val="1B2B33"/>
                </a:solidFill>
                <a:latin typeface="Calibri" pitchFamily="34" charset="0"/>
                <a:ea typeface="Calibri" pitchFamily="34" charset="-122"/>
                <a:cs typeface="Calibri" pitchFamily="34" charset="-120"/>
              </a:rPr>
              <a:t>A set of classification models that predict the presence of a father figure in a household: Random Forest, XGBoost and binomial logistic regression, built in R.</a:t>
            </a:r>
            <a:endParaRPr lang="en-US" sz="1250" dirty="0"/>
          </a:p>
        </p:txBody>
      </p:sp>
      <p:sp>
        <p:nvSpPr>
          <p:cNvPr id="12" name="Shape 10"/>
          <p:cNvSpPr/>
          <p:nvPr/>
        </p:nvSpPr>
        <p:spPr>
          <a:xfrm>
            <a:off x="548640" y="3886200"/>
            <a:ext cx="3611880" cy="2240280"/>
          </a:xfrm>
          <a:prstGeom prst="roundRect">
            <a:avLst>
              <a:gd name="adj" fmla="val 489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731520" y="4069080"/>
            <a:ext cx="502920" cy="502920"/>
          </a:xfrm>
          <a:prstGeom prst="ellipse">
            <a:avLst/>
          </a:prstGeom>
          <a:solidFill>
            <a:srgbClr val="0F2A33"/>
          </a:solidFill>
          <a:ln/>
        </p:spPr>
        <p:txBody>
          <a:bodyPr wrap="square" lIns="0" tIns="0" rIns="0" bIns="0" rtlCol="0" anchor="ctr"/>
          <a:lstStyle/>
          <a:p>
            <a:pPr algn="ctr" indent="0" marL="0">
              <a:buNone/>
            </a:pPr>
            <a:r>
              <a:rPr lang="en-US" sz="1600" b="1" dirty="0">
                <a:solidFill>
                  <a:srgbClr val="F2A03D"/>
                </a:solidFill>
                <a:latin typeface="Cambria" pitchFamily="34" charset="0"/>
                <a:ea typeface="Cambria" pitchFamily="34" charset="-122"/>
                <a:cs typeface="Cambria" pitchFamily="34" charset="-120"/>
              </a:rPr>
              <a:t>5</a:t>
            </a:r>
            <a:endParaRPr lang="en-US" sz="1600" dirty="0"/>
          </a:p>
        </p:txBody>
      </p:sp>
      <p:sp>
        <p:nvSpPr>
          <p:cNvPr id="14" name="Text 12"/>
          <p:cNvSpPr txBox="1"/>
          <p:nvPr/>
        </p:nvSpPr>
        <p:spPr>
          <a:xfrm>
            <a:off x="1371600" y="4069080"/>
            <a:ext cx="2651760" cy="502920"/>
          </a:xfrm>
          <a:prstGeom prst="rect">
            <a:avLst/>
          </a:prstGeom>
          <a:noFill/>
          <a:ln/>
        </p:spPr>
        <p:txBody>
          <a:bodyPr wrap="square" lIns="0" tIns="0" rIns="0" bIns="0" rtlCol="0" anchor="ctr"/>
          <a:lstStyle/>
          <a:p>
            <a:pPr algn="l" indent="0" marL="0">
              <a:buNone/>
            </a:pPr>
            <a:r>
              <a:rPr lang="en-US" sz="1500" b="1" dirty="0">
                <a:solidFill>
                  <a:srgbClr val="0F2A33"/>
                </a:solidFill>
                <a:latin typeface="Cambria" pitchFamily="34" charset="0"/>
                <a:ea typeface="Cambria" pitchFamily="34" charset="-122"/>
                <a:cs typeface="Cambria" pitchFamily="34" charset="-120"/>
              </a:rPr>
              <a:t>Cause &amp; impact analysis report</a:t>
            </a:r>
            <a:endParaRPr lang="en-US" sz="1500" dirty="0"/>
          </a:p>
        </p:txBody>
      </p:sp>
      <p:sp>
        <p:nvSpPr>
          <p:cNvPr id="15" name="Text 13"/>
          <p:cNvSpPr txBox="1"/>
          <p:nvPr/>
        </p:nvSpPr>
        <p:spPr>
          <a:xfrm>
            <a:off x="777240" y="4663440"/>
            <a:ext cx="3200400" cy="1417320"/>
          </a:xfrm>
          <a:prstGeom prst="rect">
            <a:avLst/>
          </a:prstGeom>
          <a:noFill/>
          <a:ln/>
        </p:spPr>
        <p:txBody>
          <a:bodyPr wrap="square" lIns="0" tIns="0" rIns="0" bIns="0" rtlCol="0" anchor="t"/>
          <a:lstStyle/>
          <a:p>
            <a:pPr algn="l" indent="0" marL="0">
              <a:buNone/>
            </a:pPr>
            <a:r>
              <a:rPr lang="en-US" sz="1250" dirty="0">
                <a:solidFill>
                  <a:srgbClr val="1B2B33"/>
                </a:solidFill>
                <a:latin typeface="Calibri" pitchFamily="34" charset="0"/>
                <a:ea typeface="Calibri" pitchFamily="34" charset="-122"/>
                <a:cs typeface="Calibri" pitchFamily="34" charset="-120"/>
              </a:rPr>
              <a:t>Statistical analysis that identifies causes of fatherlessness and the impacts on households.</a:t>
            </a:r>
            <a:endParaRPr lang="en-US" sz="1250" dirty="0"/>
          </a:p>
        </p:txBody>
      </p:sp>
      <p:sp>
        <p:nvSpPr>
          <p:cNvPr id="16" name="Shape 14"/>
          <p:cNvSpPr/>
          <p:nvPr/>
        </p:nvSpPr>
        <p:spPr>
          <a:xfrm>
            <a:off x="4389120" y="3886200"/>
            <a:ext cx="3611880" cy="2240280"/>
          </a:xfrm>
          <a:prstGeom prst="roundRect">
            <a:avLst>
              <a:gd name="adj" fmla="val 4898"/>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7" name="Text 15"/>
          <p:cNvSpPr/>
          <p:nvPr/>
        </p:nvSpPr>
        <p:spPr>
          <a:xfrm>
            <a:off x="4572000" y="4069080"/>
            <a:ext cx="502920" cy="502920"/>
          </a:xfrm>
          <a:prstGeom prst="ellipse">
            <a:avLst/>
          </a:prstGeom>
          <a:solidFill>
            <a:srgbClr val="0F2A33"/>
          </a:solid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6–7</a:t>
            </a:r>
            <a:endParaRPr lang="en-US" sz="1200" dirty="0"/>
          </a:p>
        </p:txBody>
      </p:sp>
      <p:sp>
        <p:nvSpPr>
          <p:cNvPr id="18" name="Text 16"/>
          <p:cNvSpPr txBox="1"/>
          <p:nvPr/>
        </p:nvSpPr>
        <p:spPr>
          <a:xfrm>
            <a:off x="5212080" y="4069080"/>
            <a:ext cx="2651760" cy="502920"/>
          </a:xfrm>
          <a:prstGeom prst="rect">
            <a:avLst/>
          </a:prstGeom>
          <a:noFill/>
          <a:ln/>
        </p:spPr>
        <p:txBody>
          <a:bodyPr wrap="square" lIns="0" tIns="0" rIns="0" bIns="0" rtlCol="0" anchor="ctr"/>
          <a:lstStyle/>
          <a:p>
            <a:pPr algn="l" indent="0" marL="0">
              <a:buNone/>
            </a:pPr>
            <a:r>
              <a:rPr lang="en-US" sz="1500" b="1" dirty="0">
                <a:solidFill>
                  <a:srgbClr val="0F2A33"/>
                </a:solidFill>
                <a:latin typeface="Cambria" pitchFamily="34" charset="0"/>
                <a:ea typeface="Cambria" pitchFamily="34" charset="-122"/>
                <a:cs typeface="Cambria" pitchFamily="34" charset="-120"/>
              </a:rPr>
              <a:t>Final report &amp; presentation</a:t>
            </a:r>
            <a:endParaRPr lang="en-US" sz="1500" dirty="0"/>
          </a:p>
        </p:txBody>
      </p:sp>
      <p:sp>
        <p:nvSpPr>
          <p:cNvPr id="19" name="Text 17"/>
          <p:cNvSpPr txBox="1"/>
          <p:nvPr/>
        </p:nvSpPr>
        <p:spPr>
          <a:xfrm>
            <a:off x="4617720" y="4663440"/>
            <a:ext cx="3200400" cy="1417320"/>
          </a:xfrm>
          <a:prstGeom prst="rect">
            <a:avLst/>
          </a:prstGeom>
          <a:noFill/>
          <a:ln/>
        </p:spPr>
        <p:txBody>
          <a:bodyPr wrap="square" lIns="0" tIns="0" rIns="0" bIns="0" rtlCol="0" anchor="t"/>
          <a:lstStyle/>
          <a:p>
            <a:pPr algn="l" indent="0" marL="0">
              <a:buNone/>
            </a:pPr>
            <a:r>
              <a:rPr lang="en-US" sz="1250" dirty="0">
                <a:solidFill>
                  <a:srgbClr val="1B2B33"/>
                </a:solidFill>
                <a:latin typeface="Calibri" pitchFamily="34" charset="0"/>
                <a:ea typeface="Calibri" pitchFamily="34" charset="-122"/>
                <a:cs typeface="Calibri" pitchFamily="34" charset="-120"/>
              </a:rPr>
              <a:t>A comprehensive report with actionable insights, a prediction app, and policy recommendations for addressing fatherlessness, plus a presentation of findings to stakeholders, including community leaders and policymakers.</a:t>
            </a:r>
            <a:endParaRPr lang="en-US" sz="1250" dirty="0"/>
          </a:p>
        </p:txBody>
      </p:sp>
      <p:sp>
        <p:nvSpPr>
          <p:cNvPr id="20" name="Shape 18"/>
          <p:cNvSpPr/>
          <p:nvPr/>
        </p:nvSpPr>
        <p:spPr>
          <a:xfrm>
            <a:off x="8321040" y="1463040"/>
            <a:ext cx="3291840" cy="4663440"/>
          </a:xfrm>
          <a:prstGeom prst="roundRect">
            <a:avLst>
              <a:gd name="adj" fmla="val 3333"/>
            </a:avLst>
          </a:prstGeom>
          <a:solidFill>
            <a:srgbClr val="0F2A33"/>
          </a:solidFill>
          <a:ln/>
        </p:spPr>
      </p:sp>
      <p:sp>
        <p:nvSpPr>
          <p:cNvPr id="21" name="Text 19"/>
          <p:cNvSpPr txBox="1"/>
          <p:nvPr/>
        </p:nvSpPr>
        <p:spPr>
          <a:xfrm>
            <a:off x="8595360" y="1645920"/>
            <a:ext cx="274320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Tools used</a:t>
            </a:r>
            <a:endParaRPr lang="en-US" sz="2000" dirty="0"/>
          </a:p>
        </p:txBody>
      </p:sp>
      <p:sp>
        <p:nvSpPr>
          <p:cNvPr id="22" name="Text 20"/>
          <p:cNvSpPr txBox="1"/>
          <p:nvPr/>
        </p:nvSpPr>
        <p:spPr>
          <a:xfrm>
            <a:off x="8595360" y="219456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Plotly</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interactive, customizable visualizations</a:t>
            </a:r>
            <a:endParaRPr lang="en-US" sz="1200" dirty="0"/>
          </a:p>
        </p:txBody>
      </p:sp>
      <p:sp>
        <p:nvSpPr>
          <p:cNvPr id="23" name="Text 21"/>
          <p:cNvSpPr txBox="1"/>
          <p:nvPr/>
        </p:nvSpPr>
        <p:spPr>
          <a:xfrm>
            <a:off x="8595360" y="283464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Panel</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interactive dashboards in Python</a:t>
            </a:r>
            <a:endParaRPr lang="en-US" sz="1200" dirty="0"/>
          </a:p>
        </p:txBody>
      </p:sp>
      <p:sp>
        <p:nvSpPr>
          <p:cNvPr id="24" name="Text 22"/>
          <p:cNvSpPr txBox="1"/>
          <p:nvPr/>
        </p:nvSpPr>
        <p:spPr>
          <a:xfrm>
            <a:off x="8595360" y="347472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Tableau</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flexible drag-and-drop visual analysis</a:t>
            </a:r>
            <a:endParaRPr lang="en-US" sz="1200" dirty="0"/>
          </a:p>
        </p:txBody>
      </p:sp>
      <p:sp>
        <p:nvSpPr>
          <p:cNvPr id="25" name="Text 23"/>
          <p:cNvSpPr txBox="1"/>
          <p:nvPr/>
        </p:nvSpPr>
        <p:spPr>
          <a:xfrm>
            <a:off x="8595360" y="411480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Python</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EDA, visualization and user interface</a:t>
            </a:r>
            <a:endParaRPr lang="en-US" sz="1200" dirty="0"/>
          </a:p>
        </p:txBody>
      </p:sp>
      <p:sp>
        <p:nvSpPr>
          <p:cNvPr id="26" name="Text 24"/>
          <p:cNvSpPr txBox="1"/>
          <p:nvPr/>
        </p:nvSpPr>
        <p:spPr>
          <a:xfrm>
            <a:off x="8595360" y="475488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R</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model training, testing and retraining</a:t>
            </a:r>
            <a:endParaRPr lang="en-US" sz="1200" dirty="0"/>
          </a:p>
        </p:txBody>
      </p:sp>
      <p:sp>
        <p:nvSpPr>
          <p:cNvPr id="27" name="Text 25"/>
          <p:cNvSpPr txBox="1"/>
          <p:nvPr/>
        </p:nvSpPr>
        <p:spPr>
          <a:xfrm>
            <a:off x="8595360" y="5394960"/>
            <a:ext cx="2834640" cy="594360"/>
          </a:xfrm>
          <a:prstGeom prst="rect">
            <a:avLst/>
          </a:prstGeom>
          <a:noFill/>
          <a:ln/>
        </p:spPr>
        <p:txBody>
          <a:bodyPr wrap="square" lIns="0" tIns="0" rIns="0" bIns="0" rtlCol="0" anchor="t"/>
          <a:lstStyle/>
          <a:p>
            <a:pPr algn="l" indent="0" marL="0">
              <a:buNone/>
            </a:pPr>
            <a:r>
              <a:rPr lang="en-US" sz="1200" b="1" dirty="0">
                <a:solidFill>
                  <a:srgbClr val="F2A03D"/>
                </a:solidFill>
                <a:latin typeface="Calibri" pitchFamily="34" charset="0"/>
                <a:ea typeface="Calibri" pitchFamily="34" charset="-122"/>
                <a:cs typeface="Calibri" pitchFamily="34" charset="-120"/>
              </a:rPr>
              <a:t>Plumber API</a:t>
            </a:r>
            <a:endParaRPr lang="en-US" sz="1200" dirty="0"/>
          </a:p>
          <a:p>
            <a:pPr algn="l" indent="0" marL="0">
              <a:buNone/>
            </a:pPr>
            <a:r>
              <a:rPr lang="en-US" sz="1200" dirty="0">
                <a:solidFill>
                  <a:srgbClr val="D5E4E7"/>
                </a:solidFill>
                <a:latin typeface="Calibri" pitchFamily="34" charset="0"/>
                <a:ea typeface="Calibri" pitchFamily="34" charset="-122"/>
                <a:cs typeface="Calibri" pitchFamily="34" charset="-120"/>
              </a:rPr>
              <a:t>connects Python and R</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Final Data &amp; Features</a:t>
            </a:r>
            <a:endParaRPr lang="en-US" sz="3200" dirty="0"/>
          </a:p>
        </p:txBody>
      </p:sp>
      <p:sp>
        <p:nvSpPr>
          <p:cNvPr id="4" name="Shape 2"/>
          <p:cNvSpPr/>
          <p:nvPr/>
        </p:nvSpPr>
        <p:spPr>
          <a:xfrm>
            <a:off x="548640" y="1508760"/>
            <a:ext cx="3566160" cy="470916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777240" y="1691640"/>
            <a:ext cx="3108960" cy="365760"/>
          </a:xfrm>
          <a:prstGeom prst="rect">
            <a:avLst/>
          </a:prstGeom>
          <a:noFill/>
          <a:ln/>
        </p:spPr>
        <p:txBody>
          <a:bodyPr wrap="square" lIns="0" tIns="0" rIns="0" bIns="0" rtlCol="0" anchor="t"/>
          <a:lstStyle/>
          <a:p>
            <a:pPr algn="l" indent="0" marL="0">
              <a:buNone/>
            </a:pPr>
            <a:r>
              <a:rPr lang="en-US" sz="1400" b="1" dirty="0">
                <a:solidFill>
                  <a:srgbClr val="0F2A33"/>
                </a:solidFill>
                <a:latin typeface="Calibri" pitchFamily="34" charset="0"/>
                <a:ea typeface="Calibri" pitchFamily="34" charset="-122"/>
                <a:cs typeface="Calibri" pitchFamily="34" charset="-120"/>
              </a:rPr>
              <a:t>2024 dataset: text labels (df2)</a:t>
            </a:r>
            <a:endParaRPr lang="en-US" sz="1400" dirty="0"/>
          </a:p>
        </p:txBody>
      </p:sp>
      <p:pic>
        <p:nvPicPr>
          <p:cNvPr id="6" name="Image 0" descr="/home/claude/assets/image30.png">    </p:cNvPr>
          <p:cNvPicPr>
            <a:picLocks noChangeAspect="1"/>
          </p:cNvPicPr>
          <p:nvPr/>
        </p:nvPicPr>
        <p:blipFill>
          <a:blip r:embed="rId1"/>
          <a:stretch>
            <a:fillRect/>
          </a:stretch>
        </p:blipFill>
        <p:spPr>
          <a:xfrm>
            <a:off x="685800" y="2760152"/>
            <a:ext cx="3291840" cy="2709295"/>
          </a:xfrm>
          <a:prstGeom prst="rect">
            <a:avLst/>
          </a:prstGeom>
        </p:spPr>
      </p:pic>
      <p:sp>
        <p:nvSpPr>
          <p:cNvPr id="7" name="Shape 4"/>
          <p:cNvSpPr/>
          <p:nvPr/>
        </p:nvSpPr>
        <p:spPr>
          <a:xfrm>
            <a:off x="4389120" y="1508760"/>
            <a:ext cx="3566160" cy="470916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5"/>
          <p:cNvSpPr txBox="1"/>
          <p:nvPr/>
        </p:nvSpPr>
        <p:spPr>
          <a:xfrm>
            <a:off x="4617720" y="1691640"/>
            <a:ext cx="3108960" cy="365760"/>
          </a:xfrm>
          <a:prstGeom prst="rect">
            <a:avLst/>
          </a:prstGeom>
          <a:noFill/>
          <a:ln/>
        </p:spPr>
        <p:txBody>
          <a:bodyPr wrap="square" lIns="0" tIns="0" rIns="0" bIns="0" rtlCol="0" anchor="t"/>
          <a:lstStyle/>
          <a:p>
            <a:pPr algn="l" indent="0" marL="0">
              <a:buNone/>
            </a:pPr>
            <a:r>
              <a:rPr lang="en-US" sz="1400" b="1" dirty="0">
                <a:solidFill>
                  <a:srgbClr val="0F2A33"/>
                </a:solidFill>
                <a:latin typeface="Calibri" pitchFamily="34" charset="0"/>
                <a:ea typeface="Calibri" pitchFamily="34" charset="-122"/>
                <a:cs typeface="Calibri" pitchFamily="34" charset="-120"/>
              </a:rPr>
              <a:t>Mapped labels</a:t>
            </a:r>
            <a:endParaRPr lang="en-US" sz="1400" dirty="0"/>
          </a:p>
        </p:txBody>
      </p:sp>
      <p:pic>
        <p:nvPicPr>
          <p:cNvPr id="9" name="Image 1" descr="/home/claude/assets/image31.png">    </p:cNvPr>
          <p:cNvPicPr>
            <a:picLocks noChangeAspect="1"/>
          </p:cNvPicPr>
          <p:nvPr/>
        </p:nvPicPr>
        <p:blipFill>
          <a:blip r:embed="rId2"/>
          <a:stretch>
            <a:fillRect/>
          </a:stretch>
        </p:blipFill>
        <p:spPr>
          <a:xfrm>
            <a:off x="4526280" y="3313463"/>
            <a:ext cx="3291840" cy="1602673"/>
          </a:xfrm>
          <a:prstGeom prst="rect">
            <a:avLst/>
          </a:prstGeom>
        </p:spPr>
      </p:pic>
      <p:sp>
        <p:nvSpPr>
          <p:cNvPr id="10" name="Shape 6"/>
          <p:cNvSpPr/>
          <p:nvPr/>
        </p:nvSpPr>
        <p:spPr>
          <a:xfrm>
            <a:off x="8229600" y="1508760"/>
            <a:ext cx="3566160" cy="4709160"/>
          </a:xfrm>
          <a:prstGeom prst="roundRect">
            <a:avLst>
              <a:gd name="adj" fmla="val 307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Text 7"/>
          <p:cNvSpPr txBox="1"/>
          <p:nvPr/>
        </p:nvSpPr>
        <p:spPr>
          <a:xfrm>
            <a:off x="8458200" y="1691640"/>
            <a:ext cx="3108960" cy="365760"/>
          </a:xfrm>
          <a:prstGeom prst="rect">
            <a:avLst/>
          </a:prstGeom>
          <a:noFill/>
          <a:ln/>
        </p:spPr>
        <p:txBody>
          <a:bodyPr wrap="square" lIns="0" tIns="0" rIns="0" bIns="0" rtlCol="0" anchor="t"/>
          <a:lstStyle/>
          <a:p>
            <a:pPr algn="l" indent="0" marL="0">
              <a:buNone/>
            </a:pPr>
            <a:r>
              <a:rPr lang="en-US" sz="1400" b="1" dirty="0">
                <a:solidFill>
                  <a:srgbClr val="0F2A33"/>
                </a:solidFill>
                <a:latin typeface="Calibri" pitchFamily="34" charset="0"/>
                <a:ea typeface="Calibri" pitchFamily="34" charset="-122"/>
                <a:cs typeface="Calibri" pitchFamily="34" charset="-120"/>
              </a:rPr>
              <a:t>2023 dataset: coded labels (df3)</a:t>
            </a:r>
            <a:endParaRPr lang="en-US" sz="1400" dirty="0"/>
          </a:p>
        </p:txBody>
      </p:sp>
      <p:pic>
        <p:nvPicPr>
          <p:cNvPr id="12" name="Image 2" descr="/home/claude/assets/image32.png">    </p:cNvPr>
          <p:cNvPicPr>
            <a:picLocks noChangeAspect="1"/>
          </p:cNvPicPr>
          <p:nvPr/>
        </p:nvPicPr>
        <p:blipFill>
          <a:blip r:embed="rId3"/>
          <a:stretch>
            <a:fillRect/>
          </a:stretch>
        </p:blipFill>
        <p:spPr>
          <a:xfrm>
            <a:off x="8366760" y="2788051"/>
            <a:ext cx="3291840" cy="2653498"/>
          </a:xfrm>
          <a:prstGeom prst="rect">
            <a:avLst/>
          </a:prstGeom>
        </p:spPr>
      </p:pic>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8"/>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SCOPE &amp; METHOD</a:t>
            </a:r>
            <a:endParaRPr lang="en-US" sz="1100" dirty="0"/>
          </a:p>
        </p:txBody>
      </p:sp>
      <p:sp>
        <p:nvSpPr>
          <p:cNvPr id="4"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Codebook Reference &amp; Mapping Steps</a:t>
            </a:r>
            <a:endParaRPr lang="en-US" sz="3200" dirty="0"/>
          </a:p>
        </p:txBody>
      </p:sp>
      <p:sp>
        <p:nvSpPr>
          <p:cNvPr id="5" name="Shape 2"/>
          <p:cNvSpPr/>
          <p:nvPr/>
        </p:nvSpPr>
        <p:spPr>
          <a:xfrm>
            <a:off x="548640" y="1508760"/>
            <a:ext cx="6035040" cy="4709160"/>
          </a:xfrm>
          <a:prstGeom prst="roundRect">
            <a:avLst>
              <a:gd name="adj" fmla="val 233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22960" y="1691640"/>
            <a:ext cx="5029200" cy="320040"/>
          </a:xfrm>
          <a:prstGeom prst="rect">
            <a:avLst/>
          </a:prstGeom>
          <a:noFill/>
          <a:ln/>
        </p:spPr>
        <p:txBody>
          <a:bodyPr wrap="square" lIns="0" tIns="0" rIns="0" bIns="0" rtlCol="0" anchor="t"/>
          <a:lstStyle/>
          <a:p>
            <a:pPr algn="l" indent="0" marL="0">
              <a:buNone/>
            </a:pPr>
            <a:r>
              <a:rPr lang="en-US" sz="1400" b="1" dirty="0">
                <a:solidFill>
                  <a:srgbClr val="0F2A33"/>
                </a:solidFill>
                <a:latin typeface="Calibri" pitchFamily="34" charset="0"/>
                <a:ea typeface="Calibri" pitchFamily="34" charset="-122"/>
                <a:cs typeface="Calibri" pitchFamily="34" charset="-120"/>
              </a:rPr>
              <a:t>Dataset guide: education codes</a:t>
            </a:r>
            <a:endParaRPr lang="en-US" sz="1400" dirty="0"/>
          </a:p>
        </p:txBody>
      </p:sp>
      <p:pic>
        <p:nvPicPr>
          <p:cNvPr id="7" name="Image 0" descr="/home/claude/assets/image35.png">    </p:cNvPr>
          <p:cNvPicPr>
            <a:picLocks noChangeAspect="1"/>
          </p:cNvPicPr>
          <p:nvPr/>
        </p:nvPicPr>
        <p:blipFill>
          <a:blip r:embed="rId1"/>
          <a:stretch>
            <a:fillRect/>
          </a:stretch>
        </p:blipFill>
        <p:spPr>
          <a:xfrm>
            <a:off x="777240" y="2203040"/>
            <a:ext cx="5577840" cy="3823519"/>
          </a:xfrm>
          <a:prstGeom prst="rect">
            <a:avLst/>
          </a:prstGeom>
        </p:spPr>
      </p:pic>
      <p:sp>
        <p:nvSpPr>
          <p:cNvPr id="8" name="Shape 4"/>
          <p:cNvSpPr/>
          <p:nvPr/>
        </p:nvSpPr>
        <p:spPr>
          <a:xfrm>
            <a:off x="6812280" y="1508760"/>
            <a:ext cx="4800600" cy="2148840"/>
          </a:xfrm>
          <a:prstGeom prst="roundRect">
            <a:avLst>
              <a:gd name="adj" fmla="val 5106"/>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9" name="Image 1" descr="/home/claude/assets/image33.png">    </p:cNvPr>
          <p:cNvPicPr>
            <a:picLocks noChangeAspect="1"/>
          </p:cNvPicPr>
          <p:nvPr/>
        </p:nvPicPr>
        <p:blipFill>
          <a:blip r:embed="rId2"/>
          <a:stretch>
            <a:fillRect/>
          </a:stretch>
        </p:blipFill>
        <p:spPr>
          <a:xfrm>
            <a:off x="7040880" y="1691640"/>
            <a:ext cx="4343400" cy="303642"/>
          </a:xfrm>
          <a:prstGeom prst="rect">
            <a:avLst/>
          </a:prstGeom>
        </p:spPr>
      </p:pic>
      <p:pic>
        <p:nvPicPr>
          <p:cNvPr id="10" name="Image 2" descr="/home/claude/assets/image34.png">    </p:cNvPr>
          <p:cNvPicPr>
            <a:picLocks noChangeAspect="1"/>
          </p:cNvPicPr>
          <p:nvPr/>
        </p:nvPicPr>
        <p:blipFill>
          <a:blip r:embed="rId3"/>
          <a:stretch>
            <a:fillRect/>
          </a:stretch>
        </p:blipFill>
        <p:spPr>
          <a:xfrm>
            <a:off x="7040880" y="2286000"/>
            <a:ext cx="4343400" cy="1178923"/>
          </a:xfrm>
          <a:prstGeom prst="rect">
            <a:avLst/>
          </a:prstGeom>
        </p:spPr>
      </p:pic>
      <p:sp>
        <p:nvSpPr>
          <p:cNvPr id="11" name="Shape 5"/>
          <p:cNvSpPr/>
          <p:nvPr/>
        </p:nvSpPr>
        <p:spPr>
          <a:xfrm>
            <a:off x="6812280" y="3840480"/>
            <a:ext cx="4800600" cy="2377440"/>
          </a:xfrm>
          <a:prstGeom prst="roundRect">
            <a:avLst>
              <a:gd name="adj" fmla="val 4615"/>
            </a:avLst>
          </a:prstGeom>
          <a:solidFill>
            <a:srgbClr val="0F2A33"/>
          </a:solidFill>
          <a:ln/>
        </p:spPr>
      </p:sp>
      <p:sp>
        <p:nvSpPr>
          <p:cNvPr id="12" name="Text 6"/>
          <p:cNvSpPr txBox="1"/>
          <p:nvPr/>
        </p:nvSpPr>
        <p:spPr>
          <a:xfrm>
            <a:off x="7086600" y="3977640"/>
            <a:ext cx="4114800" cy="320040"/>
          </a:xfrm>
          <a:prstGeom prst="rect">
            <a:avLst/>
          </a:prstGeom>
          <a:noFill/>
          <a:ln/>
        </p:spPr>
        <p:txBody>
          <a:bodyPr wrap="square" lIns="0" tIns="0" rIns="0" bIns="0" rtlCol="0" anchor="t"/>
          <a:lstStyle/>
          <a:p>
            <a:pPr algn="l" indent="0" marL="0">
              <a:buNone/>
            </a:pPr>
            <a:r>
              <a:rPr lang="en-US" sz="1600" b="1" dirty="0">
                <a:solidFill>
                  <a:srgbClr val="F2A03D"/>
                </a:solidFill>
                <a:latin typeface="Cambria" pitchFamily="34" charset="0"/>
                <a:ea typeface="Cambria" pitchFamily="34" charset="-122"/>
                <a:cs typeface="Cambria" pitchFamily="34" charset="-120"/>
              </a:rPr>
              <a:t>Mapping steps</a:t>
            </a:r>
            <a:endParaRPr lang="en-US" sz="1600" dirty="0"/>
          </a:p>
        </p:txBody>
      </p:sp>
      <p:sp>
        <p:nvSpPr>
          <p:cNvPr id="13" name="Text 7"/>
          <p:cNvSpPr/>
          <p:nvPr/>
        </p:nvSpPr>
        <p:spPr>
          <a:xfrm>
            <a:off x="7086600" y="4425696"/>
            <a:ext cx="292608" cy="292608"/>
          </a:xfrm>
          <a:prstGeom prst="ellipse">
            <a:avLst/>
          </a:prstGeom>
          <a:solidFill>
            <a:srgbClr val="F2A03D"/>
          </a:solidFill>
          <a:ln/>
        </p:spPr>
        <p:txBody>
          <a:bodyPr wrap="square" lIns="0" tIns="0" rIns="0" bIns="0" rtlCol="0" anchor="ctr"/>
          <a:lstStyle/>
          <a:p>
            <a:pPr algn="ctr" indent="0" marL="0">
              <a:buNone/>
            </a:pPr>
            <a:r>
              <a:rPr lang="en-US" sz="1100" b="1" dirty="0">
                <a:solidFill>
                  <a:srgbClr val="0F2A33"/>
                </a:solidFill>
                <a:latin typeface="Cambria" pitchFamily="34" charset="0"/>
                <a:ea typeface="Cambria" pitchFamily="34" charset="-122"/>
                <a:cs typeface="Cambria" pitchFamily="34" charset="-120"/>
              </a:rPr>
              <a:t>1</a:t>
            </a:r>
            <a:endParaRPr lang="en-US" sz="1100" dirty="0"/>
          </a:p>
        </p:txBody>
      </p:sp>
      <p:sp>
        <p:nvSpPr>
          <p:cNvPr id="14" name="Text 8"/>
          <p:cNvSpPr txBox="1"/>
          <p:nvPr/>
        </p:nvSpPr>
        <p:spPr>
          <a:xfrm>
            <a:off x="7543800" y="4352544"/>
            <a:ext cx="393192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Extract suffixes (None, Primary, Secondary, Tertiary) from df3.</a:t>
            </a:r>
            <a:endParaRPr lang="en-US" sz="1150" dirty="0"/>
          </a:p>
        </p:txBody>
      </p:sp>
      <p:sp>
        <p:nvSpPr>
          <p:cNvPr id="15" name="Text 9"/>
          <p:cNvSpPr/>
          <p:nvPr/>
        </p:nvSpPr>
        <p:spPr>
          <a:xfrm>
            <a:off x="7086600" y="4873752"/>
            <a:ext cx="292608" cy="292608"/>
          </a:xfrm>
          <a:prstGeom prst="ellipse">
            <a:avLst/>
          </a:prstGeom>
          <a:solidFill>
            <a:srgbClr val="F2A03D"/>
          </a:solidFill>
          <a:ln/>
        </p:spPr>
        <p:txBody>
          <a:bodyPr wrap="square" lIns="0" tIns="0" rIns="0" bIns="0" rtlCol="0" anchor="ctr"/>
          <a:lstStyle/>
          <a:p>
            <a:pPr algn="ctr" indent="0" marL="0">
              <a:buNone/>
            </a:pPr>
            <a:r>
              <a:rPr lang="en-US" sz="1100" b="1" dirty="0">
                <a:solidFill>
                  <a:srgbClr val="0F2A33"/>
                </a:solidFill>
                <a:latin typeface="Cambria" pitchFamily="34" charset="0"/>
                <a:ea typeface="Cambria" pitchFamily="34" charset="-122"/>
                <a:cs typeface="Cambria" pitchFamily="34" charset="-120"/>
              </a:rPr>
              <a:t>2</a:t>
            </a:r>
            <a:endParaRPr lang="en-US" sz="1100" dirty="0"/>
          </a:p>
        </p:txBody>
      </p:sp>
      <p:sp>
        <p:nvSpPr>
          <p:cNvPr id="16" name="Text 10"/>
          <p:cNvSpPr txBox="1"/>
          <p:nvPr/>
        </p:nvSpPr>
        <p:spPr>
          <a:xfrm>
            <a:off x="7543800" y="4800600"/>
            <a:ext cx="393192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Build mapping: suffix → full label (e.g., “Primary” → “2. Primary”).</a:t>
            </a:r>
            <a:endParaRPr lang="en-US" sz="1150" dirty="0"/>
          </a:p>
        </p:txBody>
      </p:sp>
      <p:sp>
        <p:nvSpPr>
          <p:cNvPr id="17" name="Text 11"/>
          <p:cNvSpPr/>
          <p:nvPr/>
        </p:nvSpPr>
        <p:spPr>
          <a:xfrm>
            <a:off x="7086600" y="5321808"/>
            <a:ext cx="292608" cy="292608"/>
          </a:xfrm>
          <a:prstGeom prst="ellipse">
            <a:avLst/>
          </a:prstGeom>
          <a:solidFill>
            <a:srgbClr val="F2A03D"/>
          </a:solidFill>
          <a:ln/>
        </p:spPr>
        <p:txBody>
          <a:bodyPr wrap="square" lIns="0" tIns="0" rIns="0" bIns="0" rtlCol="0" anchor="ctr"/>
          <a:lstStyle/>
          <a:p>
            <a:pPr algn="ctr" indent="0" marL="0">
              <a:buNone/>
            </a:pPr>
            <a:r>
              <a:rPr lang="en-US" sz="1100" b="1" dirty="0">
                <a:solidFill>
                  <a:srgbClr val="0F2A33"/>
                </a:solidFill>
                <a:latin typeface="Cambria" pitchFamily="34" charset="0"/>
                <a:ea typeface="Cambria" pitchFamily="34" charset="-122"/>
                <a:cs typeface="Cambria" pitchFamily="34" charset="-120"/>
              </a:rPr>
              <a:t>3</a:t>
            </a:r>
            <a:endParaRPr lang="en-US" sz="1100" dirty="0"/>
          </a:p>
        </p:txBody>
      </p:sp>
      <p:sp>
        <p:nvSpPr>
          <p:cNvPr id="18" name="Text 12"/>
          <p:cNvSpPr txBox="1"/>
          <p:nvPr/>
        </p:nvSpPr>
        <p:spPr>
          <a:xfrm>
            <a:off x="7543800" y="5248656"/>
            <a:ext cx="393192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Replace matching values in df2 with full labels.</a:t>
            </a:r>
            <a:endParaRPr lang="en-US" sz="1150" dirty="0"/>
          </a:p>
        </p:txBody>
      </p:sp>
      <p:sp>
        <p:nvSpPr>
          <p:cNvPr id="19" name="Text 13"/>
          <p:cNvSpPr/>
          <p:nvPr/>
        </p:nvSpPr>
        <p:spPr>
          <a:xfrm>
            <a:off x="7086600" y="5769864"/>
            <a:ext cx="292608" cy="292608"/>
          </a:xfrm>
          <a:prstGeom prst="ellipse">
            <a:avLst/>
          </a:prstGeom>
          <a:solidFill>
            <a:srgbClr val="F2A03D"/>
          </a:solidFill>
          <a:ln/>
        </p:spPr>
        <p:txBody>
          <a:bodyPr wrap="square" lIns="0" tIns="0" rIns="0" bIns="0" rtlCol="0" anchor="ctr"/>
          <a:lstStyle/>
          <a:p>
            <a:pPr algn="ctr" indent="0" marL="0">
              <a:buNone/>
            </a:pPr>
            <a:r>
              <a:rPr lang="en-US" sz="1100" b="1" dirty="0">
                <a:solidFill>
                  <a:srgbClr val="0F2A33"/>
                </a:solidFill>
                <a:latin typeface="Cambria" pitchFamily="34" charset="0"/>
                <a:ea typeface="Cambria" pitchFamily="34" charset="-122"/>
                <a:cs typeface="Cambria" pitchFamily="34" charset="-120"/>
              </a:rPr>
              <a:t>4</a:t>
            </a:r>
            <a:endParaRPr lang="en-US" sz="1100" dirty="0"/>
          </a:p>
        </p:txBody>
      </p:sp>
      <p:sp>
        <p:nvSpPr>
          <p:cNvPr id="20" name="Text 14"/>
          <p:cNvSpPr txBox="1"/>
          <p:nvPr/>
        </p:nvSpPr>
        <p:spPr>
          <a:xfrm>
            <a:off x="7543800" y="5696712"/>
            <a:ext cx="393192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Leave unmatched values as-is and flag for review.</a:t>
            </a:r>
            <a:endParaRPr lang="en-US" sz="115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Models Evaluation on Balanced Dataset</a:t>
            </a:r>
            <a:endParaRPr lang="en-US" sz="3200" dirty="0"/>
          </a:p>
        </p:txBody>
      </p:sp>
      <p:sp>
        <p:nvSpPr>
          <p:cNvPr id="4" name="Shape 2"/>
          <p:cNvSpPr/>
          <p:nvPr/>
        </p:nvSpPr>
        <p:spPr>
          <a:xfrm>
            <a:off x="548640" y="1508760"/>
            <a:ext cx="4206240" cy="4709160"/>
          </a:xfrm>
          <a:prstGeom prst="roundRect">
            <a:avLst>
              <a:gd name="adj" fmla="val 2609"/>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822960" y="1691640"/>
            <a:ext cx="3657600" cy="365760"/>
          </a:xfrm>
          <a:prstGeom prst="rect">
            <a:avLst/>
          </a:prstGeom>
          <a:noFill/>
          <a:ln/>
        </p:spPr>
        <p:txBody>
          <a:bodyPr wrap="square" lIns="0" tIns="0" rIns="0" bIns="0" rtlCol="0" anchor="t"/>
          <a:lstStyle/>
          <a:p>
            <a:pPr algn="l" indent="0" marL="0">
              <a:buNone/>
            </a:pPr>
            <a:r>
              <a:rPr lang="en-US" sz="2000" b="1" dirty="0">
                <a:solidFill>
                  <a:srgbClr val="0F2A33"/>
                </a:solidFill>
                <a:latin typeface="Cambria" pitchFamily="34" charset="0"/>
                <a:ea typeface="Cambria" pitchFamily="34" charset="-122"/>
                <a:cs typeface="Cambria" pitchFamily="34" charset="-120"/>
              </a:rPr>
              <a:t>Random Forest</a:t>
            </a:r>
            <a:endParaRPr lang="en-US" sz="2000" dirty="0"/>
          </a:p>
        </p:txBody>
      </p:sp>
      <p:pic>
        <p:nvPicPr>
          <p:cNvPr id="6" name="Image 0" descr="/home/claude/assets/image40.png">    </p:cNvPr>
          <p:cNvPicPr>
            <a:picLocks noChangeAspect="1"/>
          </p:cNvPicPr>
          <p:nvPr/>
        </p:nvPicPr>
        <p:blipFill>
          <a:blip r:embed="rId1"/>
          <a:stretch>
            <a:fillRect/>
          </a:stretch>
        </p:blipFill>
        <p:spPr>
          <a:xfrm>
            <a:off x="845885" y="2194560"/>
            <a:ext cx="3611751" cy="3886200"/>
          </a:xfrm>
          <a:prstGeom prst="rect">
            <a:avLst/>
          </a:prstGeom>
        </p:spPr>
      </p:pic>
      <p:sp>
        <p:nvSpPr>
          <p:cNvPr id="7" name="Shape 4"/>
          <p:cNvSpPr/>
          <p:nvPr/>
        </p:nvSpPr>
        <p:spPr>
          <a:xfrm>
            <a:off x="4983480" y="1508760"/>
            <a:ext cx="6629400" cy="4709160"/>
          </a:xfrm>
          <a:prstGeom prst="roundRect">
            <a:avLst>
              <a:gd name="adj" fmla="val 233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5"/>
          <p:cNvSpPr txBox="1"/>
          <p:nvPr/>
        </p:nvSpPr>
        <p:spPr>
          <a:xfrm>
            <a:off x="5257800" y="1691640"/>
            <a:ext cx="5486400" cy="365760"/>
          </a:xfrm>
          <a:prstGeom prst="rect">
            <a:avLst/>
          </a:prstGeom>
          <a:noFill/>
          <a:ln/>
        </p:spPr>
        <p:txBody>
          <a:bodyPr wrap="square" lIns="0" tIns="0" rIns="0" bIns="0" rtlCol="0" anchor="t"/>
          <a:lstStyle/>
          <a:p>
            <a:pPr algn="l" indent="0" marL="0">
              <a:buNone/>
            </a:pPr>
            <a:r>
              <a:rPr lang="en-US" sz="2000" b="1" dirty="0">
                <a:solidFill>
                  <a:srgbClr val="0F2A33"/>
                </a:solidFill>
                <a:latin typeface="Cambria" pitchFamily="34" charset="0"/>
                <a:ea typeface="Cambria" pitchFamily="34" charset="-122"/>
                <a:cs typeface="Cambria" pitchFamily="34" charset="-120"/>
              </a:rPr>
              <a:t>Logistic regression (binomial)</a:t>
            </a:r>
            <a:endParaRPr lang="en-US" sz="2000" dirty="0"/>
          </a:p>
        </p:txBody>
      </p:sp>
      <p:pic>
        <p:nvPicPr>
          <p:cNvPr id="9" name="Image 1" descr="/home/claude/assets/image37.png">    </p:cNvPr>
          <p:cNvPicPr>
            <a:picLocks noChangeAspect="1"/>
          </p:cNvPicPr>
          <p:nvPr/>
        </p:nvPicPr>
        <p:blipFill>
          <a:blip r:embed="rId2"/>
          <a:stretch>
            <a:fillRect/>
          </a:stretch>
        </p:blipFill>
        <p:spPr>
          <a:xfrm>
            <a:off x="5257800" y="2194560"/>
            <a:ext cx="6080760" cy="2618672"/>
          </a:xfrm>
          <a:prstGeom prst="rect">
            <a:avLst/>
          </a:prstGeom>
        </p:spPr>
      </p:pic>
      <p:pic>
        <p:nvPicPr>
          <p:cNvPr id="10" name="Image 2" descr="/home/claude/assets/image38.png">    </p:cNvPr>
          <p:cNvPicPr>
            <a:picLocks noChangeAspect="1"/>
          </p:cNvPicPr>
          <p:nvPr/>
        </p:nvPicPr>
        <p:blipFill>
          <a:blip r:embed="rId3"/>
          <a:stretch>
            <a:fillRect/>
          </a:stretch>
        </p:blipFill>
        <p:spPr>
          <a:xfrm>
            <a:off x="5257800" y="5161761"/>
            <a:ext cx="2743200" cy="649278"/>
          </a:xfrm>
          <a:prstGeom prst="rect">
            <a:avLst/>
          </a:prstGeom>
        </p:spPr>
      </p:pic>
      <p:pic>
        <p:nvPicPr>
          <p:cNvPr id="11" name="Image 3" descr="/home/claude/assets/image39.png">    </p:cNvPr>
          <p:cNvPicPr>
            <a:picLocks noChangeAspect="1"/>
          </p:cNvPicPr>
          <p:nvPr/>
        </p:nvPicPr>
        <p:blipFill>
          <a:blip r:embed="rId4"/>
          <a:stretch>
            <a:fillRect/>
          </a:stretch>
        </p:blipFill>
        <p:spPr>
          <a:xfrm>
            <a:off x="8183880" y="5140071"/>
            <a:ext cx="3154680" cy="692658"/>
          </a:xfrm>
          <a:prstGeom prst="rect">
            <a:avLst/>
          </a:prstGeom>
        </p:spPr>
      </p:pic>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8"/>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XGBoost Model Evaluation</a:t>
            </a:r>
            <a:endParaRPr lang="en-US" sz="3200" dirty="0"/>
          </a:p>
        </p:txBody>
      </p:sp>
      <p:sp>
        <p:nvSpPr>
          <p:cNvPr id="5" name="Shape 2"/>
          <p:cNvSpPr/>
          <p:nvPr/>
        </p:nvSpPr>
        <p:spPr>
          <a:xfrm>
            <a:off x="548640" y="1508760"/>
            <a:ext cx="4206240" cy="4709160"/>
          </a:xfrm>
          <a:prstGeom prst="roundRect">
            <a:avLst>
              <a:gd name="adj" fmla="val 2609"/>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6" name="Image 0" descr="/home/claude/assets/image41.png">    </p:cNvPr>
          <p:cNvPicPr>
            <a:picLocks noChangeAspect="1"/>
          </p:cNvPicPr>
          <p:nvPr/>
        </p:nvPicPr>
        <p:blipFill>
          <a:blip r:embed="rId1"/>
          <a:stretch>
            <a:fillRect/>
          </a:stretch>
        </p:blipFill>
        <p:spPr>
          <a:xfrm>
            <a:off x="884484" y="1691640"/>
            <a:ext cx="3534553" cy="4343400"/>
          </a:xfrm>
          <a:prstGeom prst="rect">
            <a:avLst/>
          </a:prstGeom>
        </p:spPr>
      </p:pic>
      <p:sp>
        <p:nvSpPr>
          <p:cNvPr id="7" name="Shape 3"/>
          <p:cNvSpPr/>
          <p:nvPr/>
        </p:nvSpPr>
        <p:spPr>
          <a:xfrm>
            <a:off x="4983480" y="1508760"/>
            <a:ext cx="320040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4"/>
          <p:cNvSpPr txBox="1"/>
          <p:nvPr/>
        </p:nvSpPr>
        <p:spPr>
          <a:xfrm>
            <a:off x="5257800" y="1645920"/>
            <a:ext cx="2743200" cy="731520"/>
          </a:xfrm>
          <a:prstGeom prst="rect">
            <a:avLst/>
          </a:prstGeom>
          <a:noFill/>
          <a:ln/>
        </p:spPr>
        <p:txBody>
          <a:bodyPr wrap="square" lIns="0" tIns="0" rIns="0" bIns="0" rtlCol="0" anchor="ctr"/>
          <a:lstStyle/>
          <a:p>
            <a:pPr algn="l" indent="0" marL="0">
              <a:buNone/>
            </a:pPr>
            <a:r>
              <a:rPr lang="en-US" sz="3800" b="1" dirty="0">
                <a:solidFill>
                  <a:srgbClr val="1F7A80"/>
                </a:solidFill>
                <a:latin typeface="Cambria" pitchFamily="34" charset="0"/>
                <a:ea typeface="Cambria" pitchFamily="34" charset="-122"/>
                <a:cs typeface="Cambria" pitchFamily="34" charset="-120"/>
              </a:rPr>
              <a:t>81.5%</a:t>
            </a:r>
            <a:endParaRPr lang="en-US" sz="3800" dirty="0"/>
          </a:p>
        </p:txBody>
      </p:sp>
      <p:sp>
        <p:nvSpPr>
          <p:cNvPr id="9" name="Text 5"/>
          <p:cNvSpPr txBox="1"/>
          <p:nvPr/>
        </p:nvSpPr>
        <p:spPr>
          <a:xfrm>
            <a:off x="5257800" y="2377440"/>
            <a:ext cx="2743200" cy="54864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accuracy</a:t>
            </a:r>
            <a:endParaRPr lang="en-US" sz="1300" dirty="0"/>
          </a:p>
        </p:txBody>
      </p:sp>
      <p:sp>
        <p:nvSpPr>
          <p:cNvPr id="10" name="Shape 6"/>
          <p:cNvSpPr/>
          <p:nvPr/>
        </p:nvSpPr>
        <p:spPr>
          <a:xfrm>
            <a:off x="8366760" y="1508760"/>
            <a:ext cx="320040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Text 7"/>
          <p:cNvSpPr txBox="1"/>
          <p:nvPr/>
        </p:nvSpPr>
        <p:spPr>
          <a:xfrm>
            <a:off x="8641080" y="1645920"/>
            <a:ext cx="2743200" cy="731520"/>
          </a:xfrm>
          <a:prstGeom prst="rect">
            <a:avLst/>
          </a:prstGeom>
          <a:noFill/>
          <a:ln/>
        </p:spPr>
        <p:txBody>
          <a:bodyPr wrap="square" lIns="0" tIns="0" rIns="0" bIns="0" rtlCol="0" anchor="ctr"/>
          <a:lstStyle/>
          <a:p>
            <a:pPr algn="l" indent="0" marL="0">
              <a:buNone/>
            </a:pPr>
            <a:r>
              <a:rPr lang="en-US" sz="3800" b="1" dirty="0">
                <a:solidFill>
                  <a:srgbClr val="1F7A80"/>
                </a:solidFill>
                <a:latin typeface="Cambria" pitchFamily="34" charset="0"/>
                <a:ea typeface="Cambria" pitchFamily="34" charset="-122"/>
                <a:cs typeface="Cambria" pitchFamily="34" charset="-120"/>
              </a:rPr>
              <a:t>81.5%</a:t>
            </a:r>
            <a:endParaRPr lang="en-US" sz="3800" dirty="0"/>
          </a:p>
        </p:txBody>
      </p:sp>
      <p:sp>
        <p:nvSpPr>
          <p:cNvPr id="12" name="Text 8"/>
          <p:cNvSpPr txBox="1"/>
          <p:nvPr/>
        </p:nvSpPr>
        <p:spPr>
          <a:xfrm>
            <a:off x="8641080" y="2377440"/>
            <a:ext cx="2743200" cy="54864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balanced accuracy</a:t>
            </a:r>
            <a:endParaRPr lang="en-US" sz="1300" dirty="0"/>
          </a:p>
        </p:txBody>
      </p:sp>
      <p:sp>
        <p:nvSpPr>
          <p:cNvPr id="13" name="Shape 9"/>
          <p:cNvSpPr/>
          <p:nvPr/>
        </p:nvSpPr>
        <p:spPr>
          <a:xfrm>
            <a:off x="4983480" y="3200400"/>
            <a:ext cx="320040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Text 10"/>
          <p:cNvSpPr txBox="1"/>
          <p:nvPr/>
        </p:nvSpPr>
        <p:spPr>
          <a:xfrm>
            <a:off x="5257800" y="3337560"/>
            <a:ext cx="2743200" cy="731520"/>
          </a:xfrm>
          <a:prstGeom prst="rect">
            <a:avLst/>
          </a:prstGeom>
          <a:noFill/>
          <a:ln/>
        </p:spPr>
        <p:txBody>
          <a:bodyPr wrap="square" lIns="0" tIns="0" rIns="0" bIns="0" rtlCol="0" anchor="ctr"/>
          <a:lstStyle/>
          <a:p>
            <a:pPr algn="l" indent="0" marL="0">
              <a:buNone/>
            </a:pPr>
            <a:r>
              <a:rPr lang="en-US" sz="3800" b="1" dirty="0">
                <a:solidFill>
                  <a:srgbClr val="1F7A80"/>
                </a:solidFill>
                <a:latin typeface="Cambria" pitchFamily="34" charset="0"/>
                <a:ea typeface="Cambria" pitchFamily="34" charset="-122"/>
                <a:cs typeface="Cambria" pitchFamily="34" charset="-120"/>
              </a:rPr>
              <a:t>0.63</a:t>
            </a:r>
            <a:endParaRPr lang="en-US" sz="3800" dirty="0"/>
          </a:p>
        </p:txBody>
      </p:sp>
      <p:sp>
        <p:nvSpPr>
          <p:cNvPr id="15" name="Text 11"/>
          <p:cNvSpPr txBox="1"/>
          <p:nvPr/>
        </p:nvSpPr>
        <p:spPr>
          <a:xfrm>
            <a:off x="5257800" y="4069080"/>
            <a:ext cx="2743200" cy="54864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Kappa: substantial agreement beyond chance</a:t>
            </a:r>
            <a:endParaRPr lang="en-US" sz="1300" dirty="0"/>
          </a:p>
        </p:txBody>
      </p:sp>
      <p:sp>
        <p:nvSpPr>
          <p:cNvPr id="16" name="Shape 12"/>
          <p:cNvSpPr/>
          <p:nvPr/>
        </p:nvSpPr>
        <p:spPr>
          <a:xfrm>
            <a:off x="8366760" y="3200400"/>
            <a:ext cx="3200400" cy="1508760"/>
          </a:xfrm>
          <a:prstGeom prst="roundRect">
            <a:avLst>
              <a:gd name="adj" fmla="val 727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7" name="Text 13"/>
          <p:cNvSpPr txBox="1"/>
          <p:nvPr/>
        </p:nvSpPr>
        <p:spPr>
          <a:xfrm>
            <a:off x="8641080" y="3337560"/>
            <a:ext cx="2743200" cy="731520"/>
          </a:xfrm>
          <a:prstGeom prst="rect">
            <a:avLst/>
          </a:prstGeom>
          <a:noFill/>
          <a:ln/>
        </p:spPr>
        <p:txBody>
          <a:bodyPr wrap="square" lIns="0" tIns="0" rIns="0" bIns="0" rtlCol="0" anchor="ctr"/>
          <a:lstStyle/>
          <a:p>
            <a:pPr algn="l" indent="0" marL="0">
              <a:buNone/>
            </a:pPr>
            <a:r>
              <a:rPr lang="en-US" sz="3800" b="1" dirty="0">
                <a:solidFill>
                  <a:srgbClr val="1F7A80"/>
                </a:solidFill>
                <a:latin typeface="Cambria" pitchFamily="34" charset="0"/>
                <a:ea typeface="Cambria" pitchFamily="34" charset="-122"/>
                <a:cs typeface="Cambria" pitchFamily="34" charset="-120"/>
              </a:rPr>
              <a:t>73%</a:t>
            </a:r>
            <a:endParaRPr lang="en-US" sz="3800" dirty="0"/>
          </a:p>
        </p:txBody>
      </p:sp>
      <p:sp>
        <p:nvSpPr>
          <p:cNvPr id="18" name="Text 14"/>
          <p:cNvSpPr txBox="1"/>
          <p:nvPr/>
        </p:nvSpPr>
        <p:spPr>
          <a:xfrm>
            <a:off x="8641080" y="4069080"/>
            <a:ext cx="2743200" cy="54864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sensitivity for class 0 (father not present)</a:t>
            </a:r>
            <a:endParaRPr lang="en-US" sz="1300" dirty="0"/>
          </a:p>
        </p:txBody>
      </p:sp>
      <p:sp>
        <p:nvSpPr>
          <p:cNvPr id="19" name="Shape 15"/>
          <p:cNvSpPr/>
          <p:nvPr/>
        </p:nvSpPr>
        <p:spPr>
          <a:xfrm>
            <a:off x="4983480" y="4937760"/>
            <a:ext cx="6583680" cy="1280160"/>
          </a:xfrm>
          <a:prstGeom prst="roundRect">
            <a:avLst>
              <a:gd name="adj" fmla="val 8571"/>
            </a:avLst>
          </a:prstGeom>
          <a:solidFill>
            <a:srgbClr val="0F2A33"/>
          </a:solidFill>
          <a:ln/>
        </p:spPr>
      </p:sp>
      <p:sp>
        <p:nvSpPr>
          <p:cNvPr id="20" name="Text 16"/>
          <p:cNvSpPr txBox="1"/>
          <p:nvPr/>
        </p:nvSpPr>
        <p:spPr>
          <a:xfrm>
            <a:off x="5257800" y="4937760"/>
            <a:ext cx="6035040" cy="12801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Balanced across both classes, and stronger on class 1 (father present, 90% precision) than class 0. Downsampling improved the model’s ability to generalize despite the original imbalance.</a:t>
            </a:r>
            <a:endParaRPr lang="en-US" sz="14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8"/>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Most Important Predictors (by MeanDecreaseGini)</a:t>
            </a:r>
            <a:endParaRPr lang="en-US" sz="3200" dirty="0"/>
          </a:p>
        </p:txBody>
      </p:sp>
      <p:sp>
        <p:nvSpPr>
          <p:cNvPr id="5" name="Shape 2"/>
          <p:cNvSpPr/>
          <p:nvPr/>
        </p:nvSpPr>
        <p:spPr>
          <a:xfrm>
            <a:off x="548640" y="1508760"/>
            <a:ext cx="5212080" cy="3383280"/>
          </a:xfrm>
          <a:prstGeom prst="roundRect">
            <a:avLst>
              <a:gd name="adj" fmla="val 324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6" name="Image 0" descr="/home/claude/assets/image42.png">    </p:cNvPr>
          <p:cNvPicPr>
            <a:picLocks noChangeAspect="1"/>
          </p:cNvPicPr>
          <p:nvPr/>
        </p:nvPicPr>
        <p:blipFill>
          <a:blip r:embed="rId1"/>
          <a:stretch>
            <a:fillRect/>
          </a:stretch>
        </p:blipFill>
        <p:spPr>
          <a:xfrm>
            <a:off x="731520" y="1759714"/>
            <a:ext cx="4846320" cy="2881373"/>
          </a:xfrm>
          <a:prstGeom prst="rect">
            <a:avLst/>
          </a:prstGeom>
        </p:spPr>
      </p:pic>
      <p:sp>
        <p:nvSpPr>
          <p:cNvPr id="7" name="Shape 3"/>
          <p:cNvSpPr/>
          <p:nvPr/>
        </p:nvSpPr>
        <p:spPr>
          <a:xfrm>
            <a:off x="5989320" y="1508760"/>
            <a:ext cx="5623560" cy="3383280"/>
          </a:xfrm>
          <a:prstGeom prst="roundRect">
            <a:avLst>
              <a:gd name="adj" fmla="val 3243"/>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graphicFrame>
        <p:nvGraphicFramePr>
          <p:cNvPr id="8" name="Chart 0" descr=""/>
          <p:cNvGraphicFramePr/>
          <p:nvPr/>
        </p:nvGraphicFramePr>
        <p:xfrm>
          <a:off x="6080760" y="1600200"/>
          <a:ext cx="5440680" cy="32004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5120640"/>
            <a:ext cx="5486400" cy="1188720"/>
          </a:xfrm>
          <a:prstGeom prst="roundRect">
            <a:avLst>
              <a:gd name="adj" fmla="val 9231"/>
            </a:avLst>
          </a:prstGeom>
          <a:solidFill>
            <a:srgbClr val="E2F0F1"/>
          </a:solidFill>
          <a:ln/>
        </p:spPr>
      </p:sp>
      <p:sp>
        <p:nvSpPr>
          <p:cNvPr id="10" name="Text 5"/>
          <p:cNvSpPr txBox="1"/>
          <p:nvPr/>
        </p:nvSpPr>
        <p:spPr>
          <a:xfrm>
            <a:off x="777240" y="5120640"/>
            <a:ext cx="5029200" cy="1188720"/>
          </a:xfrm>
          <a:prstGeom prst="rect">
            <a:avLst/>
          </a:prstGeom>
          <a:noFill/>
          <a:ln/>
        </p:spPr>
        <p:txBody>
          <a:bodyPr wrap="square" lIns="0" tIns="0" rIns="0" bIns="0" rtlCol="0" anchor="ctr"/>
          <a:lstStyle/>
          <a:p>
            <a:pPr algn="l" indent="0" marL="0">
              <a:buNone/>
            </a:pPr>
            <a:r>
              <a:rPr lang="en-US" sz="1300" b="1" dirty="0">
                <a:solidFill>
                  <a:srgbClr val="1B2B33"/>
                </a:solidFill>
                <a:latin typeface="Calibri" pitchFamily="34" charset="0"/>
                <a:ea typeface="Calibri" pitchFamily="34" charset="-122"/>
                <a:cs typeface="Calibri" pitchFamily="34" charset="-120"/>
              </a:rPr>
              <a:t>Strongest signal: family structure. </a:t>
            </a:r>
            <a:pPr algn="l" indent="0" marL="0">
              <a:buNone/>
            </a:pPr>
            <a:r>
              <a:rPr lang="en-US" sz="1300" dirty="0">
                <a:solidFill>
                  <a:srgbClr val="1B2B33"/>
                </a:solidFill>
                <a:latin typeface="Calibri" pitchFamily="34" charset="0"/>
                <a:ea typeface="Calibri" pitchFamily="34" charset="-122"/>
                <a:cs typeface="Calibri" pitchFamily="34" charset="-120"/>
              </a:rPr>
              <a:t>hhc_relationship and hhc_moth_parthh lead; income, grants, employment and education-related variables also add predictive power.</a:t>
            </a:r>
            <a:endParaRPr lang="en-US" sz="1300" dirty="0"/>
          </a:p>
        </p:txBody>
      </p:sp>
      <p:sp>
        <p:nvSpPr>
          <p:cNvPr id="11" name="Shape 6"/>
          <p:cNvSpPr/>
          <p:nvPr/>
        </p:nvSpPr>
        <p:spPr>
          <a:xfrm>
            <a:off x="6263640" y="5120640"/>
            <a:ext cx="5349240" cy="1188720"/>
          </a:xfrm>
          <a:prstGeom prst="roundRect">
            <a:avLst>
              <a:gd name="adj" fmla="val 9231"/>
            </a:avLst>
          </a:prstGeom>
          <a:solidFill>
            <a:srgbClr val="F7E4E1"/>
          </a:solidFill>
          <a:ln/>
        </p:spPr>
      </p:sp>
      <p:sp>
        <p:nvSpPr>
          <p:cNvPr id="12" name="Text 7"/>
          <p:cNvSpPr txBox="1"/>
          <p:nvPr/>
        </p:nvSpPr>
        <p:spPr>
          <a:xfrm>
            <a:off x="6492240" y="5120640"/>
            <a:ext cx="4892040" cy="1188720"/>
          </a:xfrm>
          <a:prstGeom prst="rect">
            <a:avLst/>
          </a:prstGeom>
          <a:noFill/>
          <a:ln/>
        </p:spPr>
        <p:txBody>
          <a:bodyPr wrap="square" lIns="0" tIns="0" rIns="0" bIns="0" rtlCol="0" anchor="ctr"/>
          <a:lstStyle/>
          <a:p>
            <a:pPr algn="l" indent="0" marL="0">
              <a:buNone/>
            </a:pPr>
            <a:r>
              <a:rPr lang="en-US" sz="1300" b="1" dirty="0">
                <a:solidFill>
                  <a:srgbClr val="1B2B33"/>
                </a:solidFill>
                <a:latin typeface="Calibri" pitchFamily="34" charset="0"/>
                <a:ea typeface="Calibri" pitchFamily="34" charset="-122"/>
                <a:cs typeface="Calibri" pitchFamily="34" charset="-120"/>
              </a:rPr>
              <a:t>Little or no importance: </a:t>
            </a:r>
            <a:pPr algn="l" indent="0" marL="0">
              <a:buNone/>
            </a:pPr>
            <a:r>
              <a:rPr lang="en-US" sz="1300" dirty="0">
                <a:solidFill>
                  <a:srgbClr val="1B2B33"/>
                </a:solidFill>
                <a:latin typeface="Calibri" pitchFamily="34" charset="0"/>
                <a:ea typeface="Calibri" pitchFamily="34" charset="-122"/>
                <a:cs typeface="Calibri" pitchFamily="34" charset="-120"/>
              </a:rPr>
              <a:t>hhc_fath_alive (0 across the board) and undisab (≤ 0). Candidates for removal without hurting performance.</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Model Performance Summary</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2011680"/>
                <a:gridCol w="1645920"/>
                <a:gridCol w="301752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0F2A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model</a:t>
                      </a:r>
                      <a:endParaRPr lang="en-US" sz="120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0F2A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Reason</a:t>
                      </a:r>
                      <a:endParaRPr lang="en-US" sz="120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0F2A33"/>
                    </a:solidFill>
                  </a:tcPr>
                </a:tc>
              </a:tr>
              <a:tr h="548640">
                <a:tc>
                  <a:txBody>
                    <a:bodyPr/>
                    <a:lstStyle/>
                    <a:p>
                      <a:pPr indent="0" marL="0">
                        <a:buNone/>
                      </a:pPr>
                      <a:r>
                        <a:rPr lang="en-US" sz="1250" b="1" dirty="0">
                          <a:solidFill>
                            <a:srgbClr val="0F2A33"/>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b="1" dirty="0">
                          <a:solidFill>
                            <a:srgbClr val="1F7A80"/>
                          </a:solidFill>
                          <a:latin typeface="Calibri" pitchFamily="34" charset="0"/>
                          <a:ea typeface="Calibri" pitchFamily="34" charset="-122"/>
                          <a:cs typeface="Calibri" pitchFamily="34" charset="-120"/>
                        </a:rPr>
                        <a:t>XGBoost</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dirty="0">
                          <a:solidFill>
                            <a:srgbClr val="1B2B33"/>
                          </a:solidFill>
                          <a:latin typeface="Calibri" pitchFamily="34" charset="0"/>
                          <a:ea typeface="Calibri" pitchFamily="34" charset="-122"/>
                          <a:cs typeface="Calibri" pitchFamily="34" charset="-120"/>
                        </a:rPr>
                        <a:t>Highest at 81.5%</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0F2A33"/>
                          </a:solidFill>
                          <a:latin typeface="Calibri" pitchFamily="34" charset="0"/>
                          <a:ea typeface="Calibri" pitchFamily="34" charset="-122"/>
                          <a:cs typeface="Calibri" pitchFamily="34" charset="-120"/>
                        </a:rPr>
                        <a:t>AUC (ROC)</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b="1" dirty="0">
                          <a:solidFill>
                            <a:srgbClr val="1F7A80"/>
                          </a:solidFill>
                          <a:latin typeface="Calibri" pitchFamily="34" charset="0"/>
                          <a:ea typeface="Calibri" pitchFamily="34" charset="-122"/>
                          <a:cs typeface="Calibri" pitchFamily="34" charset="-120"/>
                        </a:rPr>
                        <a:t>XGBoost</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dirty="0">
                          <a:solidFill>
                            <a:srgbClr val="1B2B33"/>
                          </a:solidFill>
                          <a:latin typeface="Calibri" pitchFamily="34" charset="0"/>
                          <a:ea typeface="Calibri" pitchFamily="34" charset="-122"/>
                          <a:cs typeface="Calibri" pitchFamily="34" charset="-120"/>
                        </a:rPr>
                        <a:t>0.8758 shows strongest class separation</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0F2A33"/>
                          </a:solidFill>
                          <a:latin typeface="Calibri" pitchFamily="34" charset="0"/>
                          <a:ea typeface="Calibri" pitchFamily="34" charset="-122"/>
                          <a:cs typeface="Calibri" pitchFamily="34" charset="-120"/>
                        </a:rPr>
                        <a:t>Precision &amp; specificity</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b="1" dirty="0">
                          <a:solidFill>
                            <a:srgbClr val="1F7A80"/>
                          </a:solidFill>
                          <a:latin typeface="Calibri" pitchFamily="34" charset="0"/>
                          <a:ea typeface="Calibri" pitchFamily="34" charset="-122"/>
                          <a:cs typeface="Calibri" pitchFamily="34" charset="-120"/>
                        </a:rPr>
                        <a:t>XGBoost</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dirty="0">
                          <a:solidFill>
                            <a:srgbClr val="1B2B33"/>
                          </a:solidFill>
                          <a:latin typeface="Calibri" pitchFamily="34" charset="0"/>
                          <a:ea typeface="Calibri" pitchFamily="34" charset="-122"/>
                          <a:cs typeface="Calibri" pitchFamily="34" charset="-120"/>
                        </a:rPr>
                        <a:t>Fewer false positives</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0F2A33"/>
                          </a:solidFill>
                          <a:latin typeface="Calibri" pitchFamily="34" charset="0"/>
                          <a:ea typeface="Calibri" pitchFamily="34" charset="-122"/>
                          <a:cs typeface="Calibri" pitchFamily="34" charset="-120"/>
                        </a:rPr>
                        <a:t>Sensitivity (recall)</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b="1" dirty="0">
                          <a:solidFill>
                            <a:srgbClr val="1F7A80"/>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dirty="0">
                          <a:solidFill>
                            <a:srgbClr val="1B2B33"/>
                          </a:solidFill>
                          <a:latin typeface="Calibri" pitchFamily="34" charset="0"/>
                          <a:ea typeface="Calibri" pitchFamily="34" charset="-122"/>
                          <a:cs typeface="Calibri" pitchFamily="34" charset="-120"/>
                        </a:rPr>
                        <a:t>Captures positives effectively</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0F2A33"/>
                          </a:solidFill>
                          <a:latin typeface="Calibri" pitchFamily="34" charset="0"/>
                          <a:ea typeface="Calibri" pitchFamily="34" charset="-122"/>
                          <a:cs typeface="Calibri" pitchFamily="34" charset="-120"/>
                        </a:rPr>
                        <a:t>Interpretability</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b="1" dirty="0">
                          <a:solidFill>
                            <a:srgbClr val="1F7A80"/>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c>
                  <a:txBody>
                    <a:bodyPr/>
                    <a:lstStyle/>
                    <a:p>
                      <a:pPr indent="0" marL="0">
                        <a:buNone/>
                      </a:pPr>
                      <a:r>
                        <a:rPr lang="en-US" sz="1250" dirty="0">
                          <a:solidFill>
                            <a:srgbClr val="1B2B33"/>
                          </a:solidFill>
                          <a:latin typeface="Calibri" pitchFamily="34" charset="0"/>
                          <a:ea typeface="Calibri" pitchFamily="34" charset="-122"/>
                          <a:cs typeface="Calibri" pitchFamily="34" charset="-120"/>
                        </a:rPr>
                        <a:t>Coefficients explain variable influence</a:t>
                      </a:r>
                      <a:endParaRPr lang="en-US" sz="1250" dirty="0">
                        <a:latin typeface="Calibri" charset="0"/>
                        <a:ea typeface="Calibri" charset="0"/>
                        <a:cs typeface="Calibri" charset="0"/>
                      </a:endParaRPr>
                    </a:p>
                  </a:txBody>
                  <a:tcPr marL="109728" marR="109728" marT="0" marB="0" anchor="ctr">
                    <a:lnL w="9525" cap="flat" cmpd="sng" algn="ctr">
                      <a:solidFill>
                        <a:srgbClr val="DCE6E8"/>
                      </a:solidFill>
                      <a:prstDash val="solid"/>
                      <a:round/>
                      <a:headEnd type="none" w="med" len="med"/>
                      <a:tailEnd type="none" w="med" len="med"/>
                    </a:lnL>
                    <a:lnR w="9525" cap="flat" cmpd="sng" algn="ctr">
                      <a:solidFill>
                        <a:srgbClr val="DCE6E8"/>
                      </a:solidFill>
                      <a:prstDash val="solid"/>
                      <a:round/>
                      <a:headEnd type="none" w="med" len="med"/>
                      <a:tailEnd type="none" w="med" len="med"/>
                    </a:lnR>
                    <a:lnT w="9525" cap="flat" cmpd="sng" algn="ctr">
                      <a:solidFill>
                        <a:srgbClr val="DCE6E8"/>
                      </a:solidFill>
                      <a:prstDash val="solid"/>
                      <a:round/>
                      <a:headEnd type="none" w="med" len="med"/>
                      <a:tailEnd type="none" w="med" len="med"/>
                    </a:lnT>
                    <a:lnB w="9525" cap="flat" cmpd="sng" algn="ctr">
                      <a:solidFill>
                        <a:srgbClr val="DCE6E8"/>
                      </a:solidFill>
                      <a:prstDash val="solid"/>
                      <a:round/>
                      <a:headEnd type="none" w="med" len="med"/>
                      <a:tailEnd type="none" w="med" len="med"/>
                    </a:lnB>
                    <a:solidFill>
                      <a:srgbClr val="FFFFFF"/>
                    </a:solidFill>
                  </a:tcPr>
                </a:tc>
              </a:tr>
            </a:tbl>
          </a:graphicData>
        </a:graphic>
      </p:graphicFrame>
      <p:sp>
        <p:nvSpPr>
          <p:cNvPr id="5" name="Shape 2"/>
          <p:cNvSpPr/>
          <p:nvPr/>
        </p:nvSpPr>
        <p:spPr>
          <a:xfrm>
            <a:off x="7498080" y="1508760"/>
            <a:ext cx="411480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6" name="Shape 3"/>
          <p:cNvSpPr/>
          <p:nvPr/>
        </p:nvSpPr>
        <p:spPr>
          <a:xfrm>
            <a:off x="7680960" y="1783080"/>
            <a:ext cx="502920" cy="502920"/>
          </a:xfrm>
          <a:prstGeom prst="ellipse">
            <a:avLst/>
          </a:prstGeom>
          <a:solidFill>
            <a:srgbClr val="E2F0F1"/>
          </a:solidFill>
          <a:ln/>
        </p:spPr>
      </p:sp>
      <p:pic>
        <p:nvPicPr>
          <p:cNvPr id="7" name="Image 0" descr="preencoded.png">    </p:cNvPr>
          <p:cNvPicPr>
            <a:picLocks noChangeAspect="1"/>
          </p:cNvPicPr>
          <p:nvPr/>
        </p:nvPicPr>
        <p:blipFill>
          <a:blip r:embed="rId1"/>
          <a:stretch>
            <a:fillRect/>
          </a:stretch>
        </p:blipFill>
        <p:spPr>
          <a:xfrm>
            <a:off x="7806690" y="1908810"/>
            <a:ext cx="251460" cy="251460"/>
          </a:xfrm>
          <a:prstGeom prst="rect">
            <a:avLst/>
          </a:prstGeom>
        </p:spPr>
      </p:pic>
      <p:sp>
        <p:nvSpPr>
          <p:cNvPr id="8" name="Text 4"/>
          <p:cNvSpPr txBox="1"/>
          <p:nvPr/>
        </p:nvSpPr>
        <p:spPr>
          <a:xfrm>
            <a:off x="8366760" y="1563624"/>
            <a:ext cx="3154680" cy="96012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XGBoost</a:t>
            </a:r>
            <a:endParaRPr lang="en-US" sz="1400" dirty="0"/>
          </a:p>
          <a:p>
            <a:pPr algn="l" indent="0" marL="0">
              <a:buNone/>
            </a:pPr>
            <a:r>
              <a:rPr lang="en-US" sz="1050" dirty="0">
                <a:solidFill>
                  <a:srgbClr val="1B2B33"/>
                </a:solidFill>
                <a:latin typeface="Calibri" pitchFamily="34" charset="0"/>
                <a:ea typeface="Calibri" pitchFamily="34" charset="-122"/>
                <a:cs typeface="Calibri" pitchFamily="34" charset="-120"/>
              </a:rPr>
              <a:t>Highest overall accuracy and AUC, the best performer for both classification and ranking positive cases.</a:t>
            </a:r>
            <a:endParaRPr lang="en-US" sz="1400" dirty="0"/>
          </a:p>
        </p:txBody>
      </p:sp>
      <p:sp>
        <p:nvSpPr>
          <p:cNvPr id="9" name="Shape 5"/>
          <p:cNvSpPr/>
          <p:nvPr/>
        </p:nvSpPr>
        <p:spPr>
          <a:xfrm>
            <a:off x="7498080" y="2697480"/>
            <a:ext cx="411480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Shape 6"/>
          <p:cNvSpPr/>
          <p:nvPr/>
        </p:nvSpPr>
        <p:spPr>
          <a:xfrm>
            <a:off x="7680960" y="2971800"/>
            <a:ext cx="502920" cy="502920"/>
          </a:xfrm>
          <a:prstGeom prst="ellipse">
            <a:avLst/>
          </a:prstGeom>
          <a:solidFill>
            <a:srgbClr val="E2F0F1"/>
          </a:solidFill>
          <a:ln/>
        </p:spPr>
      </p:sp>
      <p:pic>
        <p:nvPicPr>
          <p:cNvPr id="11" name="Image 1" descr="preencoded.png">    </p:cNvPr>
          <p:cNvPicPr>
            <a:picLocks noChangeAspect="1"/>
          </p:cNvPicPr>
          <p:nvPr/>
        </p:nvPicPr>
        <p:blipFill>
          <a:blip r:embed="rId2"/>
          <a:stretch>
            <a:fillRect/>
          </a:stretch>
        </p:blipFill>
        <p:spPr>
          <a:xfrm>
            <a:off x="7806690" y="3097530"/>
            <a:ext cx="251460" cy="251460"/>
          </a:xfrm>
          <a:prstGeom prst="rect">
            <a:avLst/>
          </a:prstGeom>
        </p:spPr>
      </p:pic>
      <p:sp>
        <p:nvSpPr>
          <p:cNvPr id="12" name="Text 7"/>
          <p:cNvSpPr txBox="1"/>
          <p:nvPr/>
        </p:nvSpPr>
        <p:spPr>
          <a:xfrm>
            <a:off x="8366760" y="2752344"/>
            <a:ext cx="3154680" cy="96012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Random Forest</a:t>
            </a:r>
            <a:endParaRPr lang="en-US" sz="1400" dirty="0"/>
          </a:p>
          <a:p>
            <a:pPr algn="l" indent="0" marL="0">
              <a:buNone/>
            </a:pPr>
            <a:r>
              <a:rPr lang="en-US" sz="1050" dirty="0">
                <a:solidFill>
                  <a:srgbClr val="1B2B33"/>
                </a:solidFill>
                <a:latin typeface="Calibri" pitchFamily="34" charset="0"/>
                <a:ea typeface="Calibri" pitchFamily="34" charset="-122"/>
                <a:cs typeface="Calibri" pitchFamily="34" charset="-120"/>
              </a:rPr>
              <a:t>Competitive, particularly strong in recall for the majority class but slightly lower specificity.</a:t>
            </a:r>
            <a:endParaRPr lang="en-US" sz="1400" dirty="0"/>
          </a:p>
        </p:txBody>
      </p:sp>
      <p:sp>
        <p:nvSpPr>
          <p:cNvPr id="13" name="Shape 8"/>
          <p:cNvSpPr/>
          <p:nvPr/>
        </p:nvSpPr>
        <p:spPr>
          <a:xfrm>
            <a:off x="7498080" y="3886200"/>
            <a:ext cx="411480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Shape 9"/>
          <p:cNvSpPr/>
          <p:nvPr/>
        </p:nvSpPr>
        <p:spPr>
          <a:xfrm>
            <a:off x="7680960" y="4160520"/>
            <a:ext cx="502920" cy="502920"/>
          </a:xfrm>
          <a:prstGeom prst="ellipse">
            <a:avLst/>
          </a:prstGeom>
          <a:solidFill>
            <a:srgbClr val="E2F0F1"/>
          </a:solidFill>
          <a:ln/>
        </p:spPr>
      </p:sp>
      <p:pic>
        <p:nvPicPr>
          <p:cNvPr id="15" name="Image 2" descr="preencoded.png">    </p:cNvPr>
          <p:cNvPicPr>
            <a:picLocks noChangeAspect="1"/>
          </p:cNvPicPr>
          <p:nvPr/>
        </p:nvPicPr>
        <p:blipFill>
          <a:blip r:embed="rId3"/>
          <a:stretch>
            <a:fillRect/>
          </a:stretch>
        </p:blipFill>
        <p:spPr>
          <a:xfrm>
            <a:off x="7806690" y="4286250"/>
            <a:ext cx="251460" cy="251460"/>
          </a:xfrm>
          <a:prstGeom prst="rect">
            <a:avLst/>
          </a:prstGeom>
        </p:spPr>
      </p:pic>
      <p:sp>
        <p:nvSpPr>
          <p:cNvPr id="16" name="Text 10"/>
          <p:cNvSpPr txBox="1"/>
          <p:nvPr/>
        </p:nvSpPr>
        <p:spPr>
          <a:xfrm>
            <a:off x="8366760" y="3941064"/>
            <a:ext cx="3154680" cy="960120"/>
          </a:xfrm>
          <a:prstGeom prst="rect">
            <a:avLst/>
          </a:prstGeom>
          <a:noFill/>
          <a:ln/>
        </p:spPr>
        <p:txBody>
          <a:bodyPr wrap="square" lIns="0" tIns="0" rIns="0" bIns="0" rtlCol="0" anchor="ctr"/>
          <a:lstStyle/>
          <a:p>
            <a:pPr algn="l" indent="0" marL="0">
              <a:buNone/>
            </a:pPr>
            <a:r>
              <a:rPr lang="en-US" sz="1300" b="1" dirty="0">
                <a:solidFill>
                  <a:srgbClr val="0F2A33"/>
                </a:solidFill>
                <a:latin typeface="Calibri" pitchFamily="34" charset="0"/>
                <a:ea typeface="Calibri" pitchFamily="34" charset="-122"/>
                <a:cs typeface="Calibri" pitchFamily="34" charset="-120"/>
              </a:rPr>
              <a:t>Logistic Regression</a:t>
            </a:r>
            <a:endParaRPr lang="en-US" sz="1400" dirty="0"/>
          </a:p>
          <a:p>
            <a:pPr algn="l" indent="0" marL="0">
              <a:buNone/>
            </a:pPr>
            <a:r>
              <a:rPr lang="en-US" sz="1050" dirty="0">
                <a:solidFill>
                  <a:srgbClr val="1B2B33"/>
                </a:solidFill>
                <a:latin typeface="Calibri" pitchFamily="34" charset="0"/>
                <a:ea typeface="Calibri" pitchFamily="34" charset="-122"/>
                <a:cs typeface="Calibri" pitchFamily="34" charset="-120"/>
              </a:rPr>
              <a:t>Interpretable, with significant insights into variable contributions but lower predictive performance than the tree-based models.</a:t>
            </a:r>
            <a:endParaRPr lang="en-US" sz="1400" dirty="0"/>
          </a:p>
        </p:txBody>
      </p:sp>
      <p:sp>
        <p:nvSpPr>
          <p:cNvPr id="17" name="Shape 11"/>
          <p:cNvSpPr/>
          <p:nvPr/>
        </p:nvSpPr>
        <p:spPr>
          <a:xfrm>
            <a:off x="548640" y="5212080"/>
            <a:ext cx="11064240" cy="1097280"/>
          </a:xfrm>
          <a:prstGeom prst="roundRect">
            <a:avLst>
              <a:gd name="adj" fmla="val 10000"/>
            </a:avLst>
          </a:prstGeom>
          <a:solidFill>
            <a:srgbClr val="0F2A33"/>
          </a:solidFill>
          <a:ln/>
        </p:spPr>
      </p:sp>
      <p:sp>
        <p:nvSpPr>
          <p:cNvPr id="18" name="Text 12"/>
          <p:cNvSpPr txBox="1"/>
          <p:nvPr/>
        </p:nvSpPr>
        <p:spPr>
          <a:xfrm>
            <a:off x="868680" y="5212080"/>
            <a:ext cx="10424160" cy="1097280"/>
          </a:xfrm>
          <a:prstGeom prst="rect">
            <a:avLst/>
          </a:prstGeom>
          <a:noFill/>
          <a:ln/>
        </p:spPr>
        <p:txBody>
          <a:bodyPr wrap="square" lIns="0" tIns="0" rIns="0" bIns="0" rtlCol="0" anchor="ctr"/>
          <a:lstStyle/>
          <a:p>
            <a:pPr algn="l" indent="0" marL="0">
              <a:buNone/>
            </a:pPr>
            <a:r>
              <a:rPr lang="en-US" sz="1500" b="1" dirty="0">
                <a:solidFill>
                  <a:srgbClr val="F2A03D"/>
                </a:solidFill>
                <a:latin typeface="Calibri" pitchFamily="34" charset="0"/>
                <a:ea typeface="Calibri" pitchFamily="34" charset="-122"/>
                <a:cs typeface="Calibri" pitchFamily="34" charset="-120"/>
              </a:rPr>
              <a:t>Recommendation: </a:t>
            </a:r>
            <a:pPr algn="l" indent="0" marL="0">
              <a:buNone/>
            </a:pPr>
            <a:r>
              <a:rPr lang="en-US" sz="1500" dirty="0">
                <a:solidFill>
                  <a:srgbClr val="FFFFFF"/>
                </a:solidFill>
                <a:latin typeface="Calibri" pitchFamily="34" charset="0"/>
                <a:ea typeface="Calibri" pitchFamily="34" charset="-122"/>
                <a:cs typeface="Calibri" pitchFamily="34" charset="-120"/>
              </a:rPr>
              <a:t>XGBoost is the preferred model for deployment and predictive accuracy. Logistic regression can complement it for interpretability, and Random Forest is a robust alternative with good sensitivity for the majority class.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Interactive Dashboard &amp; Prediction App</a:t>
            </a:r>
            <a:endParaRPr lang="en-US" sz="3200" dirty="0"/>
          </a:p>
        </p:txBody>
      </p:sp>
      <p:sp>
        <p:nvSpPr>
          <p:cNvPr id="4" name="Shape 2"/>
          <p:cNvSpPr/>
          <p:nvPr/>
        </p:nvSpPr>
        <p:spPr>
          <a:xfrm>
            <a:off x="548640" y="1508760"/>
            <a:ext cx="3931920" cy="4754880"/>
          </a:xfrm>
          <a:prstGeom prst="roundRect">
            <a:avLst>
              <a:gd name="adj" fmla="val 279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5" name="Image 0" descr="/home/claude/assets/image50.png">    </p:cNvPr>
          <p:cNvPicPr>
            <a:picLocks noChangeAspect="1"/>
          </p:cNvPicPr>
          <p:nvPr/>
        </p:nvPicPr>
        <p:blipFill>
          <a:blip r:embed="rId1"/>
          <a:stretch>
            <a:fillRect/>
          </a:stretch>
        </p:blipFill>
        <p:spPr>
          <a:xfrm>
            <a:off x="685800" y="1710676"/>
            <a:ext cx="3657600" cy="4351048"/>
          </a:xfrm>
          <a:prstGeom prst="rect">
            <a:avLst/>
          </a:prstGeom>
        </p:spPr>
      </p:pic>
      <p:sp>
        <p:nvSpPr>
          <p:cNvPr id="6" name="Shape 3"/>
          <p:cNvSpPr/>
          <p:nvPr/>
        </p:nvSpPr>
        <p:spPr>
          <a:xfrm>
            <a:off x="4663440" y="1508760"/>
            <a:ext cx="3200400" cy="4754880"/>
          </a:xfrm>
          <a:prstGeom prst="roundRect">
            <a:avLst>
              <a:gd name="adj" fmla="val 3429"/>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7" name="Image 1" descr="/home/claude/assets/image51.png">    </p:cNvPr>
          <p:cNvPicPr>
            <a:picLocks noChangeAspect="1"/>
          </p:cNvPicPr>
          <p:nvPr/>
        </p:nvPicPr>
        <p:blipFill>
          <a:blip r:embed="rId2"/>
          <a:stretch>
            <a:fillRect/>
          </a:stretch>
        </p:blipFill>
        <p:spPr>
          <a:xfrm>
            <a:off x="4800600" y="1682741"/>
            <a:ext cx="2926080" cy="4406919"/>
          </a:xfrm>
          <a:prstGeom prst="rect">
            <a:avLst/>
          </a:prstGeom>
        </p:spPr>
      </p:pic>
      <p:sp>
        <p:nvSpPr>
          <p:cNvPr id="8" name="Shape 4"/>
          <p:cNvSpPr/>
          <p:nvPr/>
        </p:nvSpPr>
        <p:spPr>
          <a:xfrm>
            <a:off x="8092440" y="1508760"/>
            <a:ext cx="3520440" cy="2514600"/>
          </a:xfrm>
          <a:prstGeom prst="roundRect">
            <a:avLst>
              <a:gd name="adj" fmla="val 4364"/>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9" name="Text 5"/>
          <p:cNvSpPr txBox="1"/>
          <p:nvPr/>
        </p:nvSpPr>
        <p:spPr>
          <a:xfrm>
            <a:off x="8321040" y="1645920"/>
            <a:ext cx="3063240" cy="2286000"/>
          </a:xfrm>
          <a:prstGeom prst="rect">
            <a:avLst/>
          </a:prstGeom>
          <a:noFill/>
          <a:ln/>
        </p:spPr>
        <p:txBody>
          <a:bodyPr wrap="square" lIns="0" tIns="0" rIns="0" bIns="0" rtlCol="0" anchor="ctr"/>
          <a:lstStyle/>
          <a:p>
            <a:pPr algn="l" indent="0" marL="0">
              <a:buNone/>
            </a:pPr>
            <a:r>
              <a:rPr lang="en-US" sz="1200" dirty="0">
                <a:solidFill>
                  <a:srgbClr val="1B2B33"/>
                </a:solidFill>
                <a:latin typeface="Calibri" pitchFamily="34" charset="0"/>
                <a:ea typeface="Calibri" pitchFamily="34" charset="-122"/>
                <a:cs typeface="Calibri" pitchFamily="34" charset="-120"/>
              </a:rPr>
              <a:t>The interactive dashboard visualizes trends and relationships in the data used to predict father absence, focusing on how demographic, geographic, and socio-economic variables influence the likelihood of a father figure being present.</a:t>
            </a:r>
            <a:endParaRPr lang="en-US" sz="1200" dirty="0"/>
          </a:p>
        </p:txBody>
      </p:sp>
      <p:sp>
        <p:nvSpPr>
          <p:cNvPr id="10" name="Shape 6"/>
          <p:cNvSpPr/>
          <p:nvPr/>
        </p:nvSpPr>
        <p:spPr>
          <a:xfrm>
            <a:off x="8092440" y="4206240"/>
            <a:ext cx="3520440" cy="2057400"/>
          </a:xfrm>
          <a:prstGeom prst="roundRect">
            <a:avLst>
              <a:gd name="adj" fmla="val 5333"/>
            </a:avLst>
          </a:prstGeom>
          <a:solidFill>
            <a:srgbClr val="0F2A33"/>
          </a:solidFill>
          <a:ln/>
        </p:spPr>
      </p:sp>
      <p:sp>
        <p:nvSpPr>
          <p:cNvPr id="11" name="Text 7"/>
          <p:cNvSpPr txBox="1"/>
          <p:nvPr/>
        </p:nvSpPr>
        <p:spPr>
          <a:xfrm>
            <a:off x="8321040" y="4297680"/>
            <a:ext cx="1645920" cy="822960"/>
          </a:xfrm>
          <a:prstGeom prst="rect">
            <a:avLst/>
          </a:prstGeom>
          <a:noFill/>
          <a:ln/>
        </p:spPr>
        <p:txBody>
          <a:bodyPr wrap="square" lIns="0" tIns="0" rIns="0" bIns="0" rtlCol="0" anchor="ctr"/>
          <a:lstStyle/>
          <a:p>
            <a:pPr algn="l" indent="0" marL="0">
              <a:buNone/>
            </a:pPr>
            <a:r>
              <a:rPr lang="en-US" sz="4000" b="1" dirty="0">
                <a:solidFill>
                  <a:srgbClr val="F2A03D"/>
                </a:solidFill>
                <a:latin typeface="Cambria" pitchFamily="34" charset="0"/>
                <a:ea typeface="Cambria" pitchFamily="34" charset="-122"/>
                <a:cs typeface="Cambria" pitchFamily="34" charset="-120"/>
              </a:rPr>
              <a:t>69%</a:t>
            </a:r>
            <a:endParaRPr lang="en-US" sz="4000" dirty="0"/>
          </a:p>
        </p:txBody>
      </p:sp>
      <p:sp>
        <p:nvSpPr>
          <p:cNvPr id="12" name="Text 8"/>
          <p:cNvSpPr txBox="1"/>
          <p:nvPr/>
        </p:nvSpPr>
        <p:spPr>
          <a:xfrm>
            <a:off x="9921240" y="4297680"/>
            <a:ext cx="1600200" cy="8229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live without a father figure</a:t>
            </a:r>
            <a:endParaRPr lang="en-US" sz="1200" dirty="0"/>
          </a:p>
        </p:txBody>
      </p:sp>
      <p:sp>
        <p:nvSpPr>
          <p:cNvPr id="13" name="Text 9"/>
          <p:cNvSpPr txBox="1"/>
          <p:nvPr/>
        </p:nvSpPr>
        <p:spPr>
          <a:xfrm>
            <a:off x="8321040" y="5166360"/>
            <a:ext cx="164592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31%</a:t>
            </a:r>
            <a:endParaRPr lang="en-US" sz="4000" dirty="0"/>
          </a:p>
        </p:txBody>
      </p:sp>
      <p:sp>
        <p:nvSpPr>
          <p:cNvPr id="14" name="Text 10"/>
          <p:cNvSpPr txBox="1"/>
          <p:nvPr/>
        </p:nvSpPr>
        <p:spPr>
          <a:xfrm>
            <a:off x="9921240" y="5166360"/>
            <a:ext cx="1600200" cy="8229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live with one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Dashboard Analysis</a:t>
            </a:r>
            <a:endParaRPr lang="en-US" sz="3200" dirty="0"/>
          </a:p>
        </p:txBody>
      </p:sp>
      <p:sp>
        <p:nvSpPr>
          <p:cNvPr id="4" name="Shape 2"/>
          <p:cNvSpPr/>
          <p:nvPr/>
        </p:nvSpPr>
        <p:spPr>
          <a:xfrm>
            <a:off x="548640" y="1508760"/>
            <a:ext cx="3337560" cy="1965960"/>
          </a:xfrm>
          <a:prstGeom prst="roundRect">
            <a:avLst>
              <a:gd name="adj" fmla="val 558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777240" y="1645920"/>
            <a:ext cx="292608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Correlation heatmap</a:t>
            </a:r>
            <a:endParaRPr lang="en-US" sz="1500" dirty="0"/>
          </a:p>
        </p:txBody>
      </p:sp>
      <p:sp>
        <p:nvSpPr>
          <p:cNvPr id="6" name="Text 4"/>
          <p:cNvSpPr txBox="1"/>
          <p:nvPr/>
        </p:nvSpPr>
        <p:spPr>
          <a:xfrm>
            <a:off x="777240" y="2057400"/>
            <a:ext cx="2926080" cy="137160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Weak correlations among numeric variables such as age, stratum, and person weight confirm that multicollinearity is minimal, ensuring model reliability and interpretability.</a:t>
            </a:r>
            <a:endParaRPr lang="en-US" sz="1300" dirty="0"/>
          </a:p>
        </p:txBody>
      </p:sp>
      <p:sp>
        <p:nvSpPr>
          <p:cNvPr id="7" name="Shape 5"/>
          <p:cNvSpPr/>
          <p:nvPr/>
        </p:nvSpPr>
        <p:spPr>
          <a:xfrm>
            <a:off x="4069080" y="1508760"/>
            <a:ext cx="3337560" cy="1965960"/>
          </a:xfrm>
          <a:prstGeom prst="roundRect">
            <a:avLst>
              <a:gd name="adj" fmla="val 558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6"/>
          <p:cNvSpPr txBox="1"/>
          <p:nvPr/>
        </p:nvSpPr>
        <p:spPr>
          <a:xfrm>
            <a:off x="4297680" y="1645920"/>
            <a:ext cx="292608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Age group</a:t>
            </a:r>
            <a:endParaRPr lang="en-US" sz="1500" dirty="0"/>
          </a:p>
        </p:txBody>
      </p:sp>
      <p:sp>
        <p:nvSpPr>
          <p:cNvPr id="9" name="Text 7"/>
          <p:cNvSpPr txBox="1"/>
          <p:nvPr/>
        </p:nvSpPr>
        <p:spPr>
          <a:xfrm>
            <a:off x="4297680" y="2057400"/>
            <a:ext cx="2926080" cy="137160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Children aged 0–14 are most affected by father absence, while the presence rate decreases progressively with age.</a:t>
            </a:r>
            <a:endParaRPr lang="en-US" sz="1300" dirty="0"/>
          </a:p>
        </p:txBody>
      </p:sp>
      <p:sp>
        <p:nvSpPr>
          <p:cNvPr id="10" name="Shape 8"/>
          <p:cNvSpPr/>
          <p:nvPr/>
        </p:nvSpPr>
        <p:spPr>
          <a:xfrm>
            <a:off x="548640" y="3611880"/>
            <a:ext cx="3337560" cy="1965960"/>
          </a:xfrm>
          <a:prstGeom prst="roundRect">
            <a:avLst>
              <a:gd name="adj" fmla="val 558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Text 9"/>
          <p:cNvSpPr txBox="1"/>
          <p:nvPr/>
        </p:nvSpPr>
        <p:spPr>
          <a:xfrm>
            <a:off x="777240" y="3749040"/>
            <a:ext cx="292608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Province</a:t>
            </a:r>
            <a:endParaRPr lang="en-US" sz="1500" dirty="0"/>
          </a:p>
        </p:txBody>
      </p:sp>
      <p:sp>
        <p:nvSpPr>
          <p:cNvPr id="12" name="Text 10"/>
          <p:cNvSpPr txBox="1"/>
          <p:nvPr/>
        </p:nvSpPr>
        <p:spPr>
          <a:xfrm>
            <a:off x="777240" y="4160520"/>
            <a:ext cx="2926080" cy="137160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Eastern Cape, KwaZulu-Natal, and Limpopo show the highest father absence; Western Cape is comparatively lower, suggesting socio-economic differences.</a:t>
            </a:r>
            <a:endParaRPr lang="en-US" sz="1300" dirty="0"/>
          </a:p>
        </p:txBody>
      </p:sp>
      <p:sp>
        <p:nvSpPr>
          <p:cNvPr id="13" name="Shape 11"/>
          <p:cNvSpPr/>
          <p:nvPr/>
        </p:nvSpPr>
        <p:spPr>
          <a:xfrm>
            <a:off x="4069080" y="3611880"/>
            <a:ext cx="3337560" cy="1965960"/>
          </a:xfrm>
          <a:prstGeom prst="roundRect">
            <a:avLst>
              <a:gd name="adj" fmla="val 5581"/>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Text 12"/>
          <p:cNvSpPr txBox="1"/>
          <p:nvPr/>
        </p:nvSpPr>
        <p:spPr>
          <a:xfrm>
            <a:off x="4297680" y="3749040"/>
            <a:ext cx="2926080" cy="365760"/>
          </a:xfrm>
          <a:prstGeom prst="rect">
            <a:avLst/>
          </a:prstGeom>
          <a:noFill/>
          <a:ln/>
        </p:spPr>
        <p:txBody>
          <a:bodyPr wrap="square" lIns="0" tIns="0" rIns="0" bIns="0" rtlCol="0" anchor="ctr"/>
          <a:lstStyle/>
          <a:p>
            <a:pPr algn="l" indent="0" marL="0">
              <a:buNone/>
            </a:pPr>
            <a:r>
              <a:rPr lang="en-US" sz="1500" b="1" dirty="0">
                <a:solidFill>
                  <a:srgbClr val="1F7A80"/>
                </a:solidFill>
                <a:latin typeface="Cambria" pitchFamily="34" charset="0"/>
                <a:ea typeface="Cambria" pitchFamily="34" charset="-122"/>
                <a:cs typeface="Cambria" pitchFamily="34" charset="-120"/>
              </a:rPr>
              <a:t>Race &amp; geotype</a:t>
            </a:r>
            <a:endParaRPr lang="en-US" sz="1500" dirty="0"/>
          </a:p>
        </p:txBody>
      </p:sp>
      <p:sp>
        <p:nvSpPr>
          <p:cNvPr id="15" name="Text 13"/>
          <p:cNvSpPr txBox="1"/>
          <p:nvPr/>
        </p:nvSpPr>
        <p:spPr>
          <a:xfrm>
            <a:off x="4297680" y="4160520"/>
            <a:ext cx="2926080" cy="1371600"/>
          </a:xfrm>
          <a:prstGeom prst="rect">
            <a:avLst/>
          </a:prstGeom>
          <a:noFill/>
          <a:ln/>
        </p:spPr>
        <p:txBody>
          <a:bodyPr wrap="square" lIns="0" tIns="0" rIns="0" bIns="0" rtlCol="0" anchor="t"/>
          <a:lstStyle/>
          <a:p>
            <a:pPr algn="l" indent="0" marL="0">
              <a:buNone/>
            </a:pPr>
            <a:r>
              <a:rPr lang="en-US" sz="1300" dirty="0">
                <a:solidFill>
                  <a:srgbClr val="1B2B33"/>
                </a:solidFill>
                <a:latin typeface="Calibri" pitchFamily="34" charset="0"/>
                <a:ea typeface="Calibri" pitchFamily="34" charset="-122"/>
                <a:cs typeface="Calibri" pitchFamily="34" charset="-120"/>
              </a:rPr>
              <a:t>Race-based distribution reflects broader socio-economic inequalities. Urban areas show more variability, while traditional households show higher father absence.</a:t>
            </a:r>
            <a:endParaRPr lang="en-US" sz="1300" dirty="0"/>
          </a:p>
        </p:txBody>
      </p:sp>
      <p:sp>
        <p:nvSpPr>
          <p:cNvPr id="16" name="Shape 14"/>
          <p:cNvSpPr/>
          <p:nvPr/>
        </p:nvSpPr>
        <p:spPr>
          <a:xfrm>
            <a:off x="7772400" y="1508760"/>
            <a:ext cx="3840480" cy="4069080"/>
          </a:xfrm>
          <a:prstGeom prst="roundRect">
            <a:avLst>
              <a:gd name="adj" fmla="val 2857"/>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pic>
        <p:nvPicPr>
          <p:cNvPr id="17" name="Image 0" descr="/home/claude/assets/image52.png">    </p:cNvPr>
          <p:cNvPicPr>
            <a:picLocks noChangeAspect="1"/>
          </p:cNvPicPr>
          <p:nvPr/>
        </p:nvPicPr>
        <p:blipFill>
          <a:blip r:embed="rId1"/>
          <a:stretch>
            <a:fillRect/>
          </a:stretch>
        </p:blipFill>
        <p:spPr>
          <a:xfrm>
            <a:off x="7909560" y="2027682"/>
            <a:ext cx="1783080" cy="3031236"/>
          </a:xfrm>
          <a:prstGeom prst="rect">
            <a:avLst/>
          </a:prstGeom>
        </p:spPr>
      </p:pic>
      <p:pic>
        <p:nvPicPr>
          <p:cNvPr id="18" name="Image 1" descr="/home/claude/assets/image53.png">    </p:cNvPr>
          <p:cNvPicPr>
            <a:picLocks noChangeAspect="1"/>
          </p:cNvPicPr>
          <p:nvPr/>
        </p:nvPicPr>
        <p:blipFill>
          <a:blip r:embed="rId2"/>
          <a:stretch>
            <a:fillRect/>
          </a:stretch>
        </p:blipFill>
        <p:spPr>
          <a:xfrm>
            <a:off x="9738360" y="2245412"/>
            <a:ext cx="1783080" cy="2595776"/>
          </a:xfrm>
          <a:prstGeom prst="rect">
            <a:avLst/>
          </a:prstGeom>
        </p:spPr>
      </p:pic>
      <p:sp>
        <p:nvSpPr>
          <p:cNvPr id="19" name="Shape 15"/>
          <p:cNvSpPr/>
          <p:nvPr/>
        </p:nvSpPr>
        <p:spPr>
          <a:xfrm>
            <a:off x="548640" y="5760720"/>
            <a:ext cx="11064240" cy="594360"/>
          </a:xfrm>
          <a:prstGeom prst="roundRect">
            <a:avLst>
              <a:gd name="adj" fmla="val 18462"/>
            </a:avLst>
          </a:prstGeom>
          <a:solidFill>
            <a:srgbClr val="0F2A33"/>
          </a:solidFill>
          <a:ln/>
        </p:spPr>
      </p:sp>
      <p:sp>
        <p:nvSpPr>
          <p:cNvPr id="20" name="Text 16"/>
          <p:cNvSpPr txBox="1"/>
          <p:nvPr/>
        </p:nvSpPr>
        <p:spPr>
          <a:xfrm>
            <a:off x="822960" y="5760720"/>
            <a:ext cx="10515600" cy="5943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These findings validate the dataset’s structure and variable selection, and provide actionable insights for social policy and targeted interventions.</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A33"/>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WRAP-UP</a:t>
            </a:r>
            <a:endParaRPr lang="en-US" sz="1100" dirty="0"/>
          </a:p>
        </p:txBody>
      </p:sp>
      <p:sp>
        <p:nvSpPr>
          <p:cNvPr id="4"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Recommendations</a:t>
            </a:r>
            <a:endParaRPr lang="en-US" sz="3200" dirty="0"/>
          </a:p>
        </p:txBody>
      </p:sp>
      <p:sp>
        <p:nvSpPr>
          <p:cNvPr id="5" name="Shape 2"/>
          <p:cNvSpPr/>
          <p:nvPr/>
        </p:nvSpPr>
        <p:spPr>
          <a:xfrm>
            <a:off x="548640" y="1737360"/>
            <a:ext cx="3566160" cy="4206240"/>
          </a:xfrm>
          <a:prstGeom prst="roundRect">
            <a:avLst>
              <a:gd name="adj" fmla="val 3077"/>
            </a:avLst>
          </a:prstGeom>
          <a:solidFill>
            <a:srgbClr val="18424E"/>
          </a:solidFill>
          <a:ln/>
        </p:spPr>
      </p:sp>
      <p:sp>
        <p:nvSpPr>
          <p:cNvPr id="6" name="Shape 3"/>
          <p:cNvSpPr/>
          <p:nvPr/>
        </p:nvSpPr>
        <p:spPr>
          <a:xfrm>
            <a:off x="914400" y="2103120"/>
            <a:ext cx="914400" cy="914400"/>
          </a:xfrm>
          <a:prstGeom prst="ellipse">
            <a:avLst/>
          </a:prstGeom>
          <a:solidFill>
            <a:srgbClr val="F2A03D"/>
          </a:solidFill>
          <a:ln/>
        </p:spPr>
      </p:sp>
      <p:pic>
        <p:nvPicPr>
          <p:cNvPr id="7" name="Image 0" descr="preencoded.png">    </p:cNvPr>
          <p:cNvPicPr>
            <a:picLocks noChangeAspect="1"/>
          </p:cNvPicPr>
          <p:nvPr/>
        </p:nvPicPr>
        <p:blipFill>
          <a:blip r:embed="rId1"/>
          <a:stretch>
            <a:fillRect/>
          </a:stretch>
        </p:blipFill>
        <p:spPr>
          <a:xfrm>
            <a:off x="1143000" y="2331720"/>
            <a:ext cx="457200" cy="457200"/>
          </a:xfrm>
          <a:prstGeom prst="rect">
            <a:avLst/>
          </a:prstGeom>
        </p:spPr>
      </p:pic>
      <p:sp>
        <p:nvSpPr>
          <p:cNvPr id="8" name="Text 4"/>
          <p:cNvSpPr txBox="1"/>
          <p:nvPr/>
        </p:nvSpPr>
        <p:spPr>
          <a:xfrm>
            <a:off x="914400" y="3383280"/>
            <a:ext cx="2880360" cy="237744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Develop targeted support programs in high-risk regions identified by the model.</a:t>
            </a:r>
            <a:endParaRPr lang="en-US" sz="2000" dirty="0"/>
          </a:p>
        </p:txBody>
      </p:sp>
      <p:sp>
        <p:nvSpPr>
          <p:cNvPr id="9" name="Shape 5"/>
          <p:cNvSpPr/>
          <p:nvPr/>
        </p:nvSpPr>
        <p:spPr>
          <a:xfrm>
            <a:off x="4389120" y="1737360"/>
            <a:ext cx="3566160" cy="4206240"/>
          </a:xfrm>
          <a:prstGeom prst="roundRect">
            <a:avLst>
              <a:gd name="adj" fmla="val 3077"/>
            </a:avLst>
          </a:prstGeom>
          <a:solidFill>
            <a:srgbClr val="18424E"/>
          </a:solidFill>
          <a:ln/>
        </p:spPr>
      </p:sp>
      <p:sp>
        <p:nvSpPr>
          <p:cNvPr id="10" name="Shape 6"/>
          <p:cNvSpPr/>
          <p:nvPr/>
        </p:nvSpPr>
        <p:spPr>
          <a:xfrm>
            <a:off x="4754880" y="2103120"/>
            <a:ext cx="914400" cy="914400"/>
          </a:xfrm>
          <a:prstGeom prst="ellipse">
            <a:avLst/>
          </a:prstGeom>
          <a:solidFill>
            <a:srgbClr val="F2A03D"/>
          </a:solidFill>
          <a:ln/>
        </p:spPr>
      </p:sp>
      <p:pic>
        <p:nvPicPr>
          <p:cNvPr id="11" name="Image 1" descr="preencoded.png">    </p:cNvPr>
          <p:cNvPicPr>
            <a:picLocks noChangeAspect="1"/>
          </p:cNvPicPr>
          <p:nvPr/>
        </p:nvPicPr>
        <p:blipFill>
          <a:blip r:embed="rId2"/>
          <a:stretch>
            <a:fillRect/>
          </a:stretch>
        </p:blipFill>
        <p:spPr>
          <a:xfrm>
            <a:off x="4983480" y="2331720"/>
            <a:ext cx="457200" cy="457200"/>
          </a:xfrm>
          <a:prstGeom prst="rect">
            <a:avLst/>
          </a:prstGeom>
        </p:spPr>
      </p:pic>
      <p:sp>
        <p:nvSpPr>
          <p:cNvPr id="12" name="Text 7"/>
          <p:cNvSpPr txBox="1"/>
          <p:nvPr/>
        </p:nvSpPr>
        <p:spPr>
          <a:xfrm>
            <a:off x="4754880" y="3383280"/>
            <a:ext cx="2880360" cy="237744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Encourage educational and employment initiatives for young men to reduce intergenerational father absence.</a:t>
            </a:r>
            <a:endParaRPr lang="en-US" sz="2000" dirty="0"/>
          </a:p>
        </p:txBody>
      </p:sp>
      <p:sp>
        <p:nvSpPr>
          <p:cNvPr id="13" name="Shape 8"/>
          <p:cNvSpPr/>
          <p:nvPr/>
        </p:nvSpPr>
        <p:spPr>
          <a:xfrm>
            <a:off x="8229600" y="1737360"/>
            <a:ext cx="3566160" cy="4206240"/>
          </a:xfrm>
          <a:prstGeom prst="roundRect">
            <a:avLst>
              <a:gd name="adj" fmla="val 3077"/>
            </a:avLst>
          </a:prstGeom>
          <a:solidFill>
            <a:srgbClr val="18424E"/>
          </a:solidFill>
          <a:ln/>
        </p:spPr>
      </p:sp>
      <p:sp>
        <p:nvSpPr>
          <p:cNvPr id="14" name="Shape 9"/>
          <p:cNvSpPr/>
          <p:nvPr/>
        </p:nvSpPr>
        <p:spPr>
          <a:xfrm>
            <a:off x="8595360" y="2103120"/>
            <a:ext cx="914400" cy="914400"/>
          </a:xfrm>
          <a:prstGeom prst="ellipse">
            <a:avLst/>
          </a:prstGeom>
          <a:solidFill>
            <a:srgbClr val="F2A03D"/>
          </a:solidFill>
          <a:ln/>
        </p:spPr>
      </p:sp>
      <p:pic>
        <p:nvPicPr>
          <p:cNvPr id="15" name="Image 2" descr="preencoded.png">    </p:cNvPr>
          <p:cNvPicPr>
            <a:picLocks noChangeAspect="1"/>
          </p:cNvPicPr>
          <p:nvPr/>
        </p:nvPicPr>
        <p:blipFill>
          <a:blip r:embed="rId3"/>
          <a:stretch>
            <a:fillRect/>
          </a:stretch>
        </p:blipFill>
        <p:spPr>
          <a:xfrm>
            <a:off x="8823960" y="2331720"/>
            <a:ext cx="457200" cy="457200"/>
          </a:xfrm>
          <a:prstGeom prst="rect">
            <a:avLst/>
          </a:prstGeom>
        </p:spPr>
      </p:pic>
      <p:sp>
        <p:nvSpPr>
          <p:cNvPr id="16" name="Text 10"/>
          <p:cNvSpPr txBox="1"/>
          <p:nvPr/>
        </p:nvSpPr>
        <p:spPr>
          <a:xfrm>
            <a:off x="8595360" y="3383280"/>
            <a:ext cx="2880360" cy="237744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Use predictive insights to guide policy formulation and early intervention strategies.</a:t>
            </a:r>
            <a:endParaRPr lang="en-US" sz="20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D5E4E7"/>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Potential Risks and Mitigation Strategies</a:t>
            </a:r>
            <a:endParaRPr lang="en-US" sz="3200" dirty="0"/>
          </a:p>
        </p:txBody>
      </p:sp>
      <p:sp>
        <p:nvSpPr>
          <p:cNvPr id="4" name="Shape 2"/>
          <p:cNvSpPr/>
          <p:nvPr/>
        </p:nvSpPr>
        <p:spPr>
          <a:xfrm>
            <a:off x="548640" y="14630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77240" y="16642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325880" y="16459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Data availability and quality</a:t>
            </a:r>
            <a:endParaRPr lang="en-US" sz="1450" dirty="0"/>
          </a:p>
        </p:txBody>
      </p:sp>
      <p:sp>
        <p:nvSpPr>
          <p:cNvPr id="7" name="Text 5"/>
          <p:cNvSpPr txBox="1"/>
          <p:nvPr/>
        </p:nvSpPr>
        <p:spPr>
          <a:xfrm>
            <a:off x="777240" y="22402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8" name="Text 6"/>
          <p:cNvSpPr txBox="1"/>
          <p:nvPr/>
        </p:nvSpPr>
        <p:spPr>
          <a:xfrm>
            <a:off x="777240" y="24505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High-quality datasets from Stats SA or DataFirst. If the latest data is unavailable, I will manually create a questionnaire for SPU students, other colleges and schools in Kimberley to fill. Stats SA is a reliable source and has the latest General Household Survey.</a:t>
            </a:r>
            <a:endParaRPr lang="en-US" sz="1150" dirty="0"/>
          </a:p>
        </p:txBody>
      </p:sp>
      <p:sp>
        <p:nvSpPr>
          <p:cNvPr id="9" name="Shape 7"/>
          <p:cNvSpPr/>
          <p:nvPr/>
        </p:nvSpPr>
        <p:spPr>
          <a:xfrm>
            <a:off x="4389120" y="14630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Text 8"/>
          <p:cNvSpPr/>
          <p:nvPr/>
        </p:nvSpPr>
        <p:spPr>
          <a:xfrm>
            <a:off x="4617720" y="16642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5166360" y="16459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Missing values and data format</a:t>
            </a:r>
            <a:endParaRPr lang="en-US" sz="1450" dirty="0"/>
          </a:p>
        </p:txBody>
      </p:sp>
      <p:sp>
        <p:nvSpPr>
          <p:cNvPr id="12" name="Text 10"/>
          <p:cNvSpPr txBox="1"/>
          <p:nvPr/>
        </p:nvSpPr>
        <p:spPr>
          <a:xfrm>
            <a:off x="4617720" y="22402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13" name="Text 11"/>
          <p:cNvSpPr txBox="1"/>
          <p:nvPr/>
        </p:nvSpPr>
        <p:spPr>
          <a:xfrm>
            <a:off x="4617720" y="24505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Handle missing data effectively by removing them. Apply feature transformation and encode categorical features.</a:t>
            </a:r>
            <a:endParaRPr lang="en-US" sz="1150" dirty="0"/>
          </a:p>
        </p:txBody>
      </p:sp>
      <p:sp>
        <p:nvSpPr>
          <p:cNvPr id="14" name="Shape 12"/>
          <p:cNvSpPr/>
          <p:nvPr/>
        </p:nvSpPr>
        <p:spPr>
          <a:xfrm>
            <a:off x="8229600" y="14630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5" name="Text 13"/>
          <p:cNvSpPr/>
          <p:nvPr/>
        </p:nvSpPr>
        <p:spPr>
          <a:xfrm>
            <a:off x="8458200" y="16642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9006840" y="16459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Data bias</a:t>
            </a:r>
            <a:endParaRPr lang="en-US" sz="1450" dirty="0"/>
          </a:p>
        </p:txBody>
      </p:sp>
      <p:sp>
        <p:nvSpPr>
          <p:cNvPr id="17" name="Text 15"/>
          <p:cNvSpPr txBox="1"/>
          <p:nvPr/>
        </p:nvSpPr>
        <p:spPr>
          <a:xfrm>
            <a:off x="8458200" y="22402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18" name="Text 16"/>
          <p:cNvSpPr txBox="1"/>
          <p:nvPr/>
        </p:nvSpPr>
        <p:spPr>
          <a:xfrm>
            <a:off x="8458200" y="24505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Balance the dataset using random under-sampling to handle data imbalance. Regularly retrain and use different models and methods with the updated dataset.</a:t>
            </a:r>
            <a:endParaRPr lang="en-US" sz="1150" dirty="0"/>
          </a:p>
        </p:txBody>
      </p:sp>
      <p:sp>
        <p:nvSpPr>
          <p:cNvPr id="19" name="Shape 17"/>
          <p:cNvSpPr/>
          <p:nvPr/>
        </p:nvSpPr>
        <p:spPr>
          <a:xfrm>
            <a:off x="548640" y="39776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0" name="Text 18"/>
          <p:cNvSpPr/>
          <p:nvPr/>
        </p:nvSpPr>
        <p:spPr>
          <a:xfrm>
            <a:off x="777240" y="41788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325880" y="41605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Privacy concerns</a:t>
            </a:r>
            <a:endParaRPr lang="en-US" sz="1450" dirty="0"/>
          </a:p>
        </p:txBody>
      </p:sp>
      <p:sp>
        <p:nvSpPr>
          <p:cNvPr id="22" name="Text 20"/>
          <p:cNvSpPr txBox="1"/>
          <p:nvPr/>
        </p:nvSpPr>
        <p:spPr>
          <a:xfrm>
            <a:off x="777240" y="47548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23" name="Text 21"/>
          <p:cNvSpPr txBox="1"/>
          <p:nvPr/>
        </p:nvSpPr>
        <p:spPr>
          <a:xfrm>
            <a:off x="777240" y="49651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Use label data encoding for data anonymization and follow ethical standards in handling household data.</a:t>
            </a:r>
            <a:endParaRPr lang="en-US" sz="1150" dirty="0"/>
          </a:p>
        </p:txBody>
      </p:sp>
      <p:sp>
        <p:nvSpPr>
          <p:cNvPr id="24" name="Shape 22"/>
          <p:cNvSpPr/>
          <p:nvPr/>
        </p:nvSpPr>
        <p:spPr>
          <a:xfrm>
            <a:off x="4389120" y="39776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5" name="Text 23"/>
          <p:cNvSpPr/>
          <p:nvPr/>
        </p:nvSpPr>
        <p:spPr>
          <a:xfrm>
            <a:off x="4617720" y="41788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5</a:t>
            </a:r>
            <a:endParaRPr lang="en-US" sz="1500" dirty="0"/>
          </a:p>
        </p:txBody>
      </p:sp>
      <p:sp>
        <p:nvSpPr>
          <p:cNvPr id="26" name="Text 24"/>
          <p:cNvSpPr txBox="1"/>
          <p:nvPr/>
        </p:nvSpPr>
        <p:spPr>
          <a:xfrm>
            <a:off x="5166360" y="41605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Feature and model selection</a:t>
            </a:r>
            <a:endParaRPr lang="en-US" sz="1450" dirty="0"/>
          </a:p>
        </p:txBody>
      </p:sp>
      <p:sp>
        <p:nvSpPr>
          <p:cNvPr id="27" name="Text 25"/>
          <p:cNvSpPr txBox="1"/>
          <p:nvPr/>
        </p:nvSpPr>
        <p:spPr>
          <a:xfrm>
            <a:off x="4617720" y="47548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28" name="Text 26"/>
          <p:cNvSpPr txBox="1"/>
          <p:nvPr/>
        </p:nvSpPr>
        <p:spPr>
          <a:xfrm>
            <a:off x="4617720" y="49651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The dataset has over 71,000 rows and over 100 columns, so it is difficult to know which features to select because only some are relevant to the topic. Suggestion: manual feature selection.</a:t>
            </a:r>
            <a:endParaRPr lang="en-US" sz="1150" dirty="0"/>
          </a:p>
        </p:txBody>
      </p:sp>
      <p:sp>
        <p:nvSpPr>
          <p:cNvPr id="29" name="Shape 27"/>
          <p:cNvSpPr/>
          <p:nvPr/>
        </p:nvSpPr>
        <p:spPr>
          <a:xfrm>
            <a:off x="8229600" y="3977640"/>
            <a:ext cx="3566160" cy="2377440"/>
          </a:xfrm>
          <a:prstGeom prst="roundRect">
            <a:avLst>
              <a:gd name="adj" fmla="val 461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30" name="Text 28"/>
          <p:cNvSpPr/>
          <p:nvPr/>
        </p:nvSpPr>
        <p:spPr>
          <a:xfrm>
            <a:off x="8458200" y="4178808"/>
            <a:ext cx="411480" cy="411480"/>
          </a:xfrm>
          <a:prstGeom prst="ellipse">
            <a:avLst/>
          </a:prstGeom>
          <a:solidFill>
            <a:srgbClr val="F7E4E1"/>
          </a:solidFill>
          <a:ln/>
        </p:spPr>
        <p:txBody>
          <a:bodyPr wrap="square" lIns="0" tIns="0" rIns="0" bIns="0" rtlCol="0" anchor="ctr"/>
          <a:lstStyle/>
          <a:p>
            <a:pPr algn="ctr" indent="0" marL="0">
              <a:buNone/>
            </a:pPr>
            <a:r>
              <a:rPr lang="en-US" sz="1500" b="1" dirty="0">
                <a:solidFill>
                  <a:srgbClr val="B5352B"/>
                </a:solidFill>
                <a:latin typeface="Cambria" pitchFamily="34" charset="0"/>
                <a:ea typeface="Cambria" pitchFamily="34" charset="-122"/>
                <a:cs typeface="Cambria" pitchFamily="34" charset="-120"/>
              </a:rPr>
              <a:t>6</a:t>
            </a:r>
            <a:endParaRPr lang="en-US" sz="1500" dirty="0"/>
          </a:p>
        </p:txBody>
      </p:sp>
      <p:sp>
        <p:nvSpPr>
          <p:cNvPr id="31" name="Text 29"/>
          <p:cNvSpPr txBox="1"/>
          <p:nvPr/>
        </p:nvSpPr>
        <p:spPr>
          <a:xfrm>
            <a:off x="9006840" y="4160520"/>
            <a:ext cx="2697480" cy="457200"/>
          </a:xfrm>
          <a:prstGeom prst="rect">
            <a:avLst/>
          </a:prstGeom>
          <a:noFill/>
          <a:ln/>
        </p:spPr>
        <p:txBody>
          <a:bodyPr wrap="square" lIns="0" tIns="0" rIns="0" bIns="0" rtlCol="0" anchor="ctr"/>
          <a:lstStyle/>
          <a:p>
            <a:pPr algn="l" indent="0" marL="0">
              <a:buNone/>
            </a:pPr>
            <a:r>
              <a:rPr lang="en-US" sz="1450" b="1" dirty="0">
                <a:solidFill>
                  <a:srgbClr val="0F2A33"/>
                </a:solidFill>
                <a:latin typeface="Calibri" pitchFamily="34" charset="0"/>
                <a:ea typeface="Calibri" pitchFamily="34" charset="-122"/>
                <a:cs typeface="Calibri" pitchFamily="34" charset="-120"/>
              </a:rPr>
              <a:t>Time constraints</a:t>
            </a:r>
            <a:endParaRPr lang="en-US" sz="1450" dirty="0"/>
          </a:p>
        </p:txBody>
      </p:sp>
      <p:sp>
        <p:nvSpPr>
          <p:cNvPr id="32" name="Text 30"/>
          <p:cNvSpPr txBox="1"/>
          <p:nvPr/>
        </p:nvSpPr>
        <p:spPr>
          <a:xfrm>
            <a:off x="8458200" y="4754880"/>
            <a:ext cx="2743200" cy="201168"/>
          </a:xfrm>
          <a:prstGeom prst="rect">
            <a:avLst/>
          </a:prstGeom>
          <a:noFill/>
          <a:ln/>
        </p:spPr>
        <p:txBody>
          <a:bodyPr wrap="square" lIns="0" tIns="0" rIns="0" bIns="0" rtlCol="0" anchor="t"/>
          <a:lstStyle/>
          <a:p>
            <a:pPr algn="l" indent="0" marL="0">
              <a:buNone/>
            </a:pPr>
            <a:r>
              <a:rPr lang="en-US" sz="950" b="1" spc="300" kern="0" dirty="0">
                <a:solidFill>
                  <a:srgbClr val="F2A03D"/>
                </a:solidFill>
                <a:latin typeface="Calibri" pitchFamily="34" charset="0"/>
                <a:ea typeface="Calibri" pitchFamily="34" charset="-122"/>
                <a:cs typeface="Calibri" pitchFamily="34" charset="-120"/>
              </a:rPr>
              <a:t>MITIGATION</a:t>
            </a:r>
            <a:endParaRPr lang="en-US" sz="950" dirty="0"/>
          </a:p>
        </p:txBody>
      </p:sp>
      <p:sp>
        <p:nvSpPr>
          <p:cNvPr id="33" name="Text 31"/>
          <p:cNvSpPr txBox="1"/>
          <p:nvPr/>
        </p:nvSpPr>
        <p:spPr>
          <a:xfrm>
            <a:off x="8458200" y="4965192"/>
            <a:ext cx="3154680" cy="1371600"/>
          </a:xfrm>
          <a:prstGeom prst="rect">
            <a:avLst/>
          </a:prstGeom>
          <a:noFill/>
          <a:ln/>
        </p:spPr>
        <p:txBody>
          <a:bodyPr wrap="square" lIns="0" tIns="0" rIns="0" bIns="0" rtlCol="0" anchor="t"/>
          <a:lstStyle/>
          <a:p>
            <a:pPr algn="l" indent="0" marL="0">
              <a:buNone/>
            </a:pPr>
            <a:r>
              <a:rPr lang="en-US" sz="1150" dirty="0">
                <a:solidFill>
                  <a:srgbClr val="1B2B33"/>
                </a:solidFill>
                <a:latin typeface="Calibri" pitchFamily="34" charset="0"/>
                <a:ea typeface="Calibri" pitchFamily="34" charset="-122"/>
                <a:cs typeface="Calibri" pitchFamily="34" charset="-120"/>
              </a:rPr>
              <a:t>Adhere to the project timeline by breaking tasks into manageable milestones and conducting regular progress reviews. Allow buffer time for unforeseen delays.</a:t>
            </a:r>
            <a:endParaRPr lang="en-US" sz="115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Challenges</a:t>
            </a:r>
            <a:endParaRPr lang="en-US" sz="3200" dirty="0"/>
          </a:p>
        </p:txBody>
      </p:sp>
      <p:sp>
        <p:nvSpPr>
          <p:cNvPr id="4" name="Shape 2"/>
          <p:cNvSpPr/>
          <p:nvPr/>
        </p:nvSpPr>
        <p:spPr>
          <a:xfrm>
            <a:off x="548640" y="1554480"/>
            <a:ext cx="11064240" cy="1371600"/>
          </a:xfrm>
          <a:prstGeom prst="roundRect">
            <a:avLst>
              <a:gd name="adj" fmla="val 80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68680" y="1828800"/>
            <a:ext cx="822960" cy="822960"/>
          </a:xfrm>
          <a:prstGeom prst="ellipse">
            <a:avLst/>
          </a:prstGeom>
          <a:solidFill>
            <a:srgbClr val="0F2A33"/>
          </a:solidFill>
          <a:ln/>
        </p:spPr>
      </p:sp>
      <p:pic>
        <p:nvPicPr>
          <p:cNvPr id="6" name="Image 0" descr="preencoded.png">    </p:cNvPr>
          <p:cNvPicPr>
            <a:picLocks noChangeAspect="1"/>
          </p:cNvPicPr>
          <p:nvPr/>
        </p:nvPicPr>
        <p:blipFill>
          <a:blip r:embed="rId1"/>
          <a:stretch>
            <a:fillRect/>
          </a:stretch>
        </p:blipFill>
        <p:spPr>
          <a:xfrm>
            <a:off x="1074420" y="2034540"/>
            <a:ext cx="411480" cy="411480"/>
          </a:xfrm>
          <a:prstGeom prst="rect">
            <a:avLst/>
          </a:prstGeom>
        </p:spPr>
      </p:pic>
      <p:sp>
        <p:nvSpPr>
          <p:cNvPr id="7" name="Text 4"/>
          <p:cNvSpPr txBox="1"/>
          <p:nvPr/>
        </p:nvSpPr>
        <p:spPr>
          <a:xfrm>
            <a:off x="2057400" y="1554480"/>
            <a:ext cx="3474720" cy="1371600"/>
          </a:xfrm>
          <a:prstGeom prst="rect">
            <a:avLst/>
          </a:prstGeom>
          <a:noFill/>
          <a:ln/>
        </p:spPr>
        <p:txBody>
          <a:bodyPr wrap="square" lIns="0" tIns="0" rIns="0" bIns="0" rtlCol="0" anchor="ctr"/>
          <a:lstStyle/>
          <a:p>
            <a:pPr algn="l" indent="0" marL="0">
              <a:buNone/>
            </a:pPr>
            <a:r>
              <a:rPr lang="en-US" sz="2200" b="1" dirty="0">
                <a:solidFill>
                  <a:srgbClr val="0F2A33"/>
                </a:solidFill>
                <a:latin typeface="Cambria" pitchFamily="34" charset="0"/>
                <a:ea typeface="Cambria" pitchFamily="34" charset="-122"/>
                <a:cs typeface="Cambria" pitchFamily="34" charset="-120"/>
              </a:rPr>
              <a:t>Label data &amp; encoding</a:t>
            </a:r>
            <a:endParaRPr lang="en-US" sz="2200" dirty="0"/>
          </a:p>
        </p:txBody>
      </p:sp>
      <p:sp>
        <p:nvSpPr>
          <p:cNvPr id="8" name="Text 5"/>
          <p:cNvSpPr txBox="1"/>
          <p:nvPr/>
        </p:nvSpPr>
        <p:spPr>
          <a:xfrm>
            <a:off x="5669280" y="1554480"/>
            <a:ext cx="5669280" cy="1371600"/>
          </a:xfrm>
          <a:prstGeom prst="rect">
            <a:avLst/>
          </a:prstGeom>
          <a:noFill/>
          <a:ln/>
        </p:spPr>
        <p:txBody>
          <a:bodyPr wrap="square" lIns="0" tIns="0" rIns="0" bIns="0" rtlCol="0" anchor="ctr"/>
          <a:lstStyle/>
          <a:p>
            <a:pPr algn="l" indent="0" marL="0">
              <a:buNone/>
            </a:pPr>
            <a:r>
              <a:rPr lang="en-US" sz="1700" dirty="0">
                <a:solidFill>
                  <a:srgbClr val="1B2B33"/>
                </a:solidFill>
                <a:latin typeface="Calibri" pitchFamily="34" charset="0"/>
                <a:ea typeface="Calibri" pitchFamily="34" charset="-122"/>
                <a:cs typeface="Calibri" pitchFamily="34" charset="-120"/>
              </a:rPr>
              <a:t>Handling label data and label encoding, which is important in model training and testing.</a:t>
            </a:r>
            <a:endParaRPr lang="en-US" sz="1700" dirty="0"/>
          </a:p>
        </p:txBody>
      </p:sp>
      <p:sp>
        <p:nvSpPr>
          <p:cNvPr id="9" name="Shape 6"/>
          <p:cNvSpPr/>
          <p:nvPr/>
        </p:nvSpPr>
        <p:spPr>
          <a:xfrm>
            <a:off x="548640" y="3108960"/>
            <a:ext cx="11064240" cy="1371600"/>
          </a:xfrm>
          <a:prstGeom prst="roundRect">
            <a:avLst>
              <a:gd name="adj" fmla="val 80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868680" y="3383280"/>
            <a:ext cx="822960" cy="822960"/>
          </a:xfrm>
          <a:prstGeom prst="ellipse">
            <a:avLst/>
          </a:prstGeom>
          <a:solidFill>
            <a:srgbClr val="0F2A33"/>
          </a:solidFill>
          <a:ln/>
        </p:spPr>
      </p:sp>
      <p:pic>
        <p:nvPicPr>
          <p:cNvPr id="11" name="Image 1" descr="preencoded.png">    </p:cNvPr>
          <p:cNvPicPr>
            <a:picLocks noChangeAspect="1"/>
          </p:cNvPicPr>
          <p:nvPr/>
        </p:nvPicPr>
        <p:blipFill>
          <a:blip r:embed="rId2"/>
          <a:stretch>
            <a:fillRect/>
          </a:stretch>
        </p:blipFill>
        <p:spPr>
          <a:xfrm>
            <a:off x="1074420" y="3589020"/>
            <a:ext cx="411480" cy="411480"/>
          </a:xfrm>
          <a:prstGeom prst="rect">
            <a:avLst/>
          </a:prstGeom>
        </p:spPr>
      </p:pic>
      <p:sp>
        <p:nvSpPr>
          <p:cNvPr id="12" name="Text 8"/>
          <p:cNvSpPr txBox="1"/>
          <p:nvPr/>
        </p:nvSpPr>
        <p:spPr>
          <a:xfrm>
            <a:off x="2057400" y="3108960"/>
            <a:ext cx="3474720" cy="1371600"/>
          </a:xfrm>
          <a:prstGeom prst="rect">
            <a:avLst/>
          </a:prstGeom>
          <a:noFill/>
          <a:ln/>
        </p:spPr>
        <p:txBody>
          <a:bodyPr wrap="square" lIns="0" tIns="0" rIns="0" bIns="0" rtlCol="0" anchor="ctr"/>
          <a:lstStyle/>
          <a:p>
            <a:pPr algn="l" indent="0" marL="0">
              <a:buNone/>
            </a:pPr>
            <a:r>
              <a:rPr lang="en-US" sz="2200" b="1" dirty="0">
                <a:solidFill>
                  <a:srgbClr val="0F2A33"/>
                </a:solidFill>
                <a:latin typeface="Cambria" pitchFamily="34" charset="0"/>
                <a:ea typeface="Cambria" pitchFamily="34" charset="-122"/>
                <a:cs typeface="Cambria" pitchFamily="34" charset="-120"/>
              </a:rPr>
              <a:t>Class imbalance</a:t>
            </a:r>
            <a:endParaRPr lang="en-US" sz="2200" dirty="0"/>
          </a:p>
        </p:txBody>
      </p:sp>
      <p:sp>
        <p:nvSpPr>
          <p:cNvPr id="13" name="Text 9"/>
          <p:cNvSpPr txBox="1"/>
          <p:nvPr/>
        </p:nvSpPr>
        <p:spPr>
          <a:xfrm>
            <a:off x="5669280" y="3108960"/>
            <a:ext cx="5669280" cy="1371600"/>
          </a:xfrm>
          <a:prstGeom prst="rect">
            <a:avLst/>
          </a:prstGeom>
          <a:noFill/>
          <a:ln/>
        </p:spPr>
        <p:txBody>
          <a:bodyPr wrap="square" lIns="0" tIns="0" rIns="0" bIns="0" rtlCol="0" anchor="ctr"/>
          <a:lstStyle/>
          <a:p>
            <a:pPr algn="l" indent="0" marL="0">
              <a:buNone/>
            </a:pPr>
            <a:r>
              <a:rPr lang="en-US" sz="1700" dirty="0">
                <a:solidFill>
                  <a:srgbClr val="1B2B33"/>
                </a:solidFill>
                <a:latin typeface="Calibri" pitchFamily="34" charset="0"/>
                <a:ea typeface="Calibri" pitchFamily="34" charset="-122"/>
                <a:cs typeface="Calibri" pitchFamily="34" charset="-120"/>
              </a:rPr>
              <a:t>Managing data imbalance of 60:30 through data undersampling.</a:t>
            </a:r>
            <a:endParaRPr lang="en-US" sz="1700" dirty="0"/>
          </a:p>
        </p:txBody>
      </p:sp>
      <p:sp>
        <p:nvSpPr>
          <p:cNvPr id="14" name="Shape 10"/>
          <p:cNvSpPr/>
          <p:nvPr/>
        </p:nvSpPr>
        <p:spPr>
          <a:xfrm>
            <a:off x="548640" y="4663440"/>
            <a:ext cx="11064240" cy="1371600"/>
          </a:xfrm>
          <a:prstGeom prst="roundRect">
            <a:avLst>
              <a:gd name="adj" fmla="val 80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5" name="Shape 11"/>
          <p:cNvSpPr/>
          <p:nvPr/>
        </p:nvSpPr>
        <p:spPr>
          <a:xfrm>
            <a:off x="868680" y="4937760"/>
            <a:ext cx="822960" cy="822960"/>
          </a:xfrm>
          <a:prstGeom prst="ellipse">
            <a:avLst/>
          </a:prstGeom>
          <a:solidFill>
            <a:srgbClr val="0F2A33"/>
          </a:solidFill>
          <a:ln/>
        </p:spPr>
      </p:sp>
      <p:pic>
        <p:nvPicPr>
          <p:cNvPr id="16" name="Image 2" descr="preencoded.png">    </p:cNvPr>
          <p:cNvPicPr>
            <a:picLocks noChangeAspect="1"/>
          </p:cNvPicPr>
          <p:nvPr/>
        </p:nvPicPr>
        <p:blipFill>
          <a:blip r:embed="rId3"/>
          <a:stretch>
            <a:fillRect/>
          </a:stretch>
        </p:blipFill>
        <p:spPr>
          <a:xfrm>
            <a:off x="1074420" y="5143500"/>
            <a:ext cx="411480" cy="411480"/>
          </a:xfrm>
          <a:prstGeom prst="rect">
            <a:avLst/>
          </a:prstGeom>
        </p:spPr>
      </p:pic>
      <p:sp>
        <p:nvSpPr>
          <p:cNvPr id="17" name="Text 12"/>
          <p:cNvSpPr txBox="1"/>
          <p:nvPr/>
        </p:nvSpPr>
        <p:spPr>
          <a:xfrm>
            <a:off x="2057400" y="4663440"/>
            <a:ext cx="3474720" cy="1371600"/>
          </a:xfrm>
          <a:prstGeom prst="rect">
            <a:avLst/>
          </a:prstGeom>
          <a:noFill/>
          <a:ln/>
        </p:spPr>
        <p:txBody>
          <a:bodyPr wrap="square" lIns="0" tIns="0" rIns="0" bIns="0" rtlCol="0" anchor="ctr"/>
          <a:lstStyle/>
          <a:p>
            <a:pPr algn="l" indent="0" marL="0">
              <a:buNone/>
            </a:pPr>
            <a:r>
              <a:rPr lang="en-US" sz="2200" b="1" dirty="0">
                <a:solidFill>
                  <a:srgbClr val="0F2A33"/>
                </a:solidFill>
                <a:latin typeface="Cambria" pitchFamily="34" charset="0"/>
                <a:ea typeface="Cambria" pitchFamily="34" charset="-122"/>
                <a:cs typeface="Cambria" pitchFamily="34" charset="-120"/>
              </a:rPr>
              <a:t>Computational limits</a:t>
            </a:r>
            <a:endParaRPr lang="en-US" sz="2200" dirty="0"/>
          </a:p>
        </p:txBody>
      </p:sp>
      <p:sp>
        <p:nvSpPr>
          <p:cNvPr id="18" name="Text 13"/>
          <p:cNvSpPr txBox="1"/>
          <p:nvPr/>
        </p:nvSpPr>
        <p:spPr>
          <a:xfrm>
            <a:off x="5669280" y="4663440"/>
            <a:ext cx="5669280" cy="1371600"/>
          </a:xfrm>
          <a:prstGeom prst="rect">
            <a:avLst/>
          </a:prstGeom>
          <a:noFill/>
          <a:ln/>
        </p:spPr>
        <p:txBody>
          <a:bodyPr wrap="square" lIns="0" tIns="0" rIns="0" bIns="0" rtlCol="0" anchor="ctr"/>
          <a:lstStyle/>
          <a:p>
            <a:pPr algn="l" indent="0" marL="0">
              <a:buNone/>
            </a:pPr>
            <a:r>
              <a:rPr lang="en-US" sz="1700" dirty="0">
                <a:solidFill>
                  <a:srgbClr val="1B2B33"/>
                </a:solidFill>
                <a:latin typeface="Calibri" pitchFamily="34" charset="0"/>
                <a:ea typeface="Calibri" pitchFamily="34" charset="-122"/>
                <a:cs typeface="Calibri" pitchFamily="34" charset="-120"/>
              </a:rPr>
              <a:t>Mitigated by data sampling and efficient feature engineering.</a:t>
            </a:r>
            <a:endParaRPr lang="en-US" sz="17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Project Plan (Timeline)</a:t>
            </a:r>
            <a:endParaRPr lang="en-US" sz="3200" dirty="0"/>
          </a:p>
        </p:txBody>
      </p:sp>
      <p:sp>
        <p:nvSpPr>
          <p:cNvPr id="4" name="Shape 2"/>
          <p:cNvSpPr/>
          <p:nvPr/>
        </p:nvSpPr>
        <p:spPr>
          <a:xfrm>
            <a:off x="548640" y="150876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77240" y="176479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554480" y="164592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Data acquisition</a:t>
            </a:r>
            <a:endParaRPr lang="en-US" sz="1600" dirty="0"/>
          </a:p>
        </p:txBody>
      </p:sp>
      <p:sp>
        <p:nvSpPr>
          <p:cNvPr id="7" name="Text 5"/>
          <p:cNvSpPr txBox="1"/>
          <p:nvPr/>
        </p:nvSpPr>
        <p:spPr>
          <a:xfrm>
            <a:off x="1554480" y="207568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24 Feb 2025 – 05 Mar 2025</a:t>
            </a:r>
            <a:endParaRPr lang="en-US" sz="1400" dirty="0"/>
          </a:p>
        </p:txBody>
      </p:sp>
      <p:sp>
        <p:nvSpPr>
          <p:cNvPr id="8" name="Shape 6"/>
          <p:cNvSpPr/>
          <p:nvPr/>
        </p:nvSpPr>
        <p:spPr>
          <a:xfrm>
            <a:off x="548640" y="274320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9" name="Text 7"/>
          <p:cNvSpPr/>
          <p:nvPr/>
        </p:nvSpPr>
        <p:spPr>
          <a:xfrm>
            <a:off x="777240" y="299923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554480" y="288036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Data preprocessing</a:t>
            </a:r>
            <a:endParaRPr lang="en-US" sz="1600" dirty="0"/>
          </a:p>
        </p:txBody>
      </p:sp>
      <p:sp>
        <p:nvSpPr>
          <p:cNvPr id="11" name="Text 9"/>
          <p:cNvSpPr txBox="1"/>
          <p:nvPr/>
        </p:nvSpPr>
        <p:spPr>
          <a:xfrm>
            <a:off x="1554480" y="331012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05 Mar 2025 – 10 Apr 2025</a:t>
            </a:r>
            <a:endParaRPr lang="en-US" sz="1400" dirty="0"/>
          </a:p>
        </p:txBody>
      </p:sp>
      <p:sp>
        <p:nvSpPr>
          <p:cNvPr id="12" name="Shape 10"/>
          <p:cNvSpPr/>
          <p:nvPr/>
        </p:nvSpPr>
        <p:spPr>
          <a:xfrm>
            <a:off x="548640" y="397764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777240" y="423367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554480" y="411480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Exploratory Data Analysis (EDA)</a:t>
            </a:r>
            <a:endParaRPr lang="en-US" sz="1600" dirty="0"/>
          </a:p>
        </p:txBody>
      </p:sp>
      <p:sp>
        <p:nvSpPr>
          <p:cNvPr id="15" name="Text 13"/>
          <p:cNvSpPr txBox="1"/>
          <p:nvPr/>
        </p:nvSpPr>
        <p:spPr>
          <a:xfrm>
            <a:off x="1554480" y="454456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01 May 2025 – June 2025</a:t>
            </a:r>
            <a:endParaRPr lang="en-US" sz="1400" dirty="0"/>
          </a:p>
        </p:txBody>
      </p:sp>
      <p:sp>
        <p:nvSpPr>
          <p:cNvPr id="16" name="Shape 14"/>
          <p:cNvSpPr/>
          <p:nvPr/>
        </p:nvSpPr>
        <p:spPr>
          <a:xfrm>
            <a:off x="548640" y="521208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7" name="Text 15"/>
          <p:cNvSpPr/>
          <p:nvPr/>
        </p:nvSpPr>
        <p:spPr>
          <a:xfrm>
            <a:off x="777240" y="546811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554480" y="534924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Feature engineering</a:t>
            </a:r>
            <a:endParaRPr lang="en-US" sz="1600" dirty="0"/>
          </a:p>
        </p:txBody>
      </p:sp>
      <p:sp>
        <p:nvSpPr>
          <p:cNvPr id="19" name="Text 17"/>
          <p:cNvSpPr txBox="1"/>
          <p:nvPr/>
        </p:nvSpPr>
        <p:spPr>
          <a:xfrm>
            <a:off x="1554480" y="577900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June 2025</a:t>
            </a:r>
            <a:endParaRPr lang="en-US" sz="1400" dirty="0"/>
          </a:p>
        </p:txBody>
      </p:sp>
      <p:sp>
        <p:nvSpPr>
          <p:cNvPr id="20" name="Shape 18"/>
          <p:cNvSpPr/>
          <p:nvPr/>
        </p:nvSpPr>
        <p:spPr>
          <a:xfrm>
            <a:off x="6217920" y="150876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1" name="Text 19"/>
          <p:cNvSpPr/>
          <p:nvPr/>
        </p:nvSpPr>
        <p:spPr>
          <a:xfrm>
            <a:off x="6446520" y="176479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7223760" y="164592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Model development &amp; evaluation</a:t>
            </a:r>
            <a:endParaRPr lang="en-US" sz="1600" dirty="0"/>
          </a:p>
        </p:txBody>
      </p:sp>
      <p:sp>
        <p:nvSpPr>
          <p:cNvPr id="23" name="Text 21"/>
          <p:cNvSpPr txBox="1"/>
          <p:nvPr/>
        </p:nvSpPr>
        <p:spPr>
          <a:xfrm>
            <a:off x="7223760" y="207568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July 2025</a:t>
            </a:r>
            <a:endParaRPr lang="en-US" sz="1400" dirty="0"/>
          </a:p>
        </p:txBody>
      </p:sp>
      <p:sp>
        <p:nvSpPr>
          <p:cNvPr id="24" name="Shape 22"/>
          <p:cNvSpPr/>
          <p:nvPr/>
        </p:nvSpPr>
        <p:spPr>
          <a:xfrm>
            <a:off x="6217920" y="274320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5" name="Text 23"/>
          <p:cNvSpPr/>
          <p:nvPr/>
        </p:nvSpPr>
        <p:spPr>
          <a:xfrm>
            <a:off x="6446520" y="299923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6</a:t>
            </a:r>
            <a:endParaRPr lang="en-US" sz="1800" dirty="0"/>
          </a:p>
        </p:txBody>
      </p:sp>
      <p:sp>
        <p:nvSpPr>
          <p:cNvPr id="26" name="Text 24"/>
          <p:cNvSpPr txBox="1"/>
          <p:nvPr/>
        </p:nvSpPr>
        <p:spPr>
          <a:xfrm>
            <a:off x="7223760" y="288036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Cause and impact analysis</a:t>
            </a:r>
            <a:endParaRPr lang="en-US" sz="1600" dirty="0"/>
          </a:p>
        </p:txBody>
      </p:sp>
      <p:sp>
        <p:nvSpPr>
          <p:cNvPr id="27" name="Text 25"/>
          <p:cNvSpPr txBox="1"/>
          <p:nvPr/>
        </p:nvSpPr>
        <p:spPr>
          <a:xfrm>
            <a:off x="7223760" y="331012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July – August 2025</a:t>
            </a:r>
            <a:endParaRPr lang="en-US" sz="1400" dirty="0"/>
          </a:p>
        </p:txBody>
      </p:sp>
      <p:sp>
        <p:nvSpPr>
          <p:cNvPr id="28" name="Shape 26"/>
          <p:cNvSpPr/>
          <p:nvPr/>
        </p:nvSpPr>
        <p:spPr>
          <a:xfrm>
            <a:off x="6217920" y="397764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29" name="Text 27"/>
          <p:cNvSpPr/>
          <p:nvPr/>
        </p:nvSpPr>
        <p:spPr>
          <a:xfrm>
            <a:off x="6446520" y="4233672"/>
            <a:ext cx="548640" cy="548640"/>
          </a:xfrm>
          <a:prstGeom prst="ellipse">
            <a:avLst/>
          </a:prstGeom>
          <a:solidFill>
            <a:srgbClr val="0F2A33"/>
          </a:solidFill>
          <a:ln/>
        </p:spPr>
        <p:txBody>
          <a:bodyPr wrap="square" lIns="0" tIns="0" rIns="0" bIns="0" rtlCol="0" anchor="ctr"/>
          <a:lstStyle/>
          <a:p>
            <a:pPr algn="ctr" indent="0" marL="0">
              <a:buNone/>
            </a:pPr>
            <a:r>
              <a:rPr lang="en-US" sz="1800" b="1" dirty="0">
                <a:solidFill>
                  <a:srgbClr val="F2A03D"/>
                </a:solidFill>
                <a:latin typeface="Cambria" pitchFamily="34" charset="0"/>
                <a:ea typeface="Cambria" pitchFamily="34" charset="-122"/>
                <a:cs typeface="Cambria" pitchFamily="34" charset="-120"/>
              </a:rPr>
              <a:t>7</a:t>
            </a:r>
            <a:endParaRPr lang="en-US" sz="1800" dirty="0"/>
          </a:p>
        </p:txBody>
      </p:sp>
      <p:sp>
        <p:nvSpPr>
          <p:cNvPr id="30" name="Text 28"/>
          <p:cNvSpPr txBox="1"/>
          <p:nvPr/>
        </p:nvSpPr>
        <p:spPr>
          <a:xfrm>
            <a:off x="7223760" y="411480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Reporting &amp; recommendations</a:t>
            </a:r>
            <a:endParaRPr lang="en-US" sz="1600" dirty="0"/>
          </a:p>
        </p:txBody>
      </p:sp>
      <p:sp>
        <p:nvSpPr>
          <p:cNvPr id="31" name="Text 29"/>
          <p:cNvSpPr txBox="1"/>
          <p:nvPr/>
        </p:nvSpPr>
        <p:spPr>
          <a:xfrm>
            <a:off x="7223760" y="454456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Aug 2025 – 05 Sept 2025</a:t>
            </a:r>
            <a:endParaRPr lang="en-US" sz="1400" dirty="0"/>
          </a:p>
        </p:txBody>
      </p:sp>
      <p:sp>
        <p:nvSpPr>
          <p:cNvPr id="32" name="Shape 30"/>
          <p:cNvSpPr/>
          <p:nvPr/>
        </p:nvSpPr>
        <p:spPr>
          <a:xfrm>
            <a:off x="6217920" y="5212080"/>
            <a:ext cx="5394960" cy="1051560"/>
          </a:xfrm>
          <a:prstGeom prst="roundRect">
            <a:avLst>
              <a:gd name="adj" fmla="val 10435"/>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33" name="Text 31"/>
          <p:cNvSpPr/>
          <p:nvPr/>
        </p:nvSpPr>
        <p:spPr>
          <a:xfrm>
            <a:off x="6446520" y="5468112"/>
            <a:ext cx="548640" cy="548640"/>
          </a:xfrm>
          <a:prstGeom prst="ellipse">
            <a:avLst/>
          </a:prstGeom>
          <a:solidFill>
            <a:srgbClr val="F2A03D"/>
          </a:solidFill>
          <a:ln/>
        </p:spPr>
        <p:txBody>
          <a:bodyPr wrap="square" lIns="0" tIns="0" rIns="0" bIns="0" rtlCol="0" anchor="ctr"/>
          <a:lstStyle/>
          <a:p>
            <a:pPr algn="ctr" indent="0" marL="0">
              <a:buNone/>
            </a:pPr>
            <a:r>
              <a:rPr lang="en-US" sz="1800" b="1" dirty="0">
                <a:solidFill>
                  <a:srgbClr val="0F2A33"/>
                </a:solidFill>
                <a:latin typeface="Cambria" pitchFamily="34" charset="0"/>
                <a:ea typeface="Cambria" pitchFamily="34" charset="-122"/>
                <a:cs typeface="Cambria" pitchFamily="34" charset="-120"/>
              </a:rPr>
              <a:t>8</a:t>
            </a:r>
            <a:endParaRPr lang="en-US" sz="1800" dirty="0"/>
          </a:p>
        </p:txBody>
      </p:sp>
      <p:sp>
        <p:nvSpPr>
          <p:cNvPr id="34" name="Text 32"/>
          <p:cNvSpPr txBox="1"/>
          <p:nvPr/>
        </p:nvSpPr>
        <p:spPr>
          <a:xfrm>
            <a:off x="7223760" y="5349240"/>
            <a:ext cx="4206240" cy="457200"/>
          </a:xfrm>
          <a:prstGeom prst="rect">
            <a:avLst/>
          </a:prstGeom>
          <a:noFill/>
          <a:ln/>
        </p:spPr>
        <p:txBody>
          <a:bodyPr wrap="square" lIns="0" tIns="0" rIns="0" bIns="0" rtlCol="0" anchor="ctr"/>
          <a:lstStyle/>
          <a:p>
            <a:pPr algn="l" indent="0" marL="0">
              <a:buNone/>
            </a:pPr>
            <a:r>
              <a:rPr lang="en-US" sz="1600" b="1" dirty="0">
                <a:solidFill>
                  <a:srgbClr val="0F2A33"/>
                </a:solidFill>
                <a:latin typeface="Calibri" pitchFamily="34" charset="0"/>
                <a:ea typeface="Calibri" pitchFamily="34" charset="-122"/>
                <a:cs typeface="Calibri" pitchFamily="34" charset="-120"/>
              </a:rPr>
              <a:t>Final review &amp; delivery</a:t>
            </a:r>
            <a:endParaRPr lang="en-US" sz="1600" dirty="0"/>
          </a:p>
        </p:txBody>
      </p:sp>
      <p:sp>
        <p:nvSpPr>
          <p:cNvPr id="35" name="Text 33"/>
          <p:cNvSpPr txBox="1"/>
          <p:nvPr/>
        </p:nvSpPr>
        <p:spPr>
          <a:xfrm>
            <a:off x="7223760" y="5779008"/>
            <a:ext cx="4206240" cy="365760"/>
          </a:xfrm>
          <a:prstGeom prst="rect">
            <a:avLst/>
          </a:prstGeom>
          <a:noFill/>
          <a:ln/>
        </p:spPr>
        <p:txBody>
          <a:bodyPr wrap="square" lIns="0" tIns="0" rIns="0" bIns="0" rtlCol="0" anchor="ctr"/>
          <a:lstStyle/>
          <a:p>
            <a:pPr algn="l" indent="0" marL="0">
              <a:buNone/>
            </a:pPr>
            <a:r>
              <a:rPr lang="en-US" sz="1400" dirty="0">
                <a:solidFill>
                  <a:srgbClr val="5B6D75"/>
                </a:solidFill>
                <a:latin typeface="Calibri" pitchFamily="34" charset="0"/>
                <a:ea typeface="Calibri" pitchFamily="34" charset="-122"/>
                <a:cs typeface="Calibri" pitchFamily="34" charset="-120"/>
              </a:rPr>
              <a:t>10 September 2025</a:t>
            </a:r>
            <a:endParaRPr lang="en-US" sz="14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37744"/>
          </a:xfrm>
          <a:prstGeom prst="rect">
            <a:avLst/>
          </a:prstGeom>
          <a:noFill/>
          <a:ln/>
        </p:spPr>
        <p:txBody>
          <a:bodyPr wrap="square" lIns="0" tIns="0" rIns="0" bIns="0" rtlCol="0" anchor="t"/>
          <a:lstStyle/>
          <a:p>
            <a:pPr algn="l" indent="0" marL="0">
              <a:buNone/>
            </a:pPr>
            <a:r>
              <a:rPr lang="en-US" sz="1100" b="1" spc="300" kern="0" dirty="0">
                <a:solidFill>
                  <a:srgbClr val="F2A03D"/>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algn="l" indent="0" marL="0">
              <a:buNone/>
            </a:pPr>
            <a:r>
              <a:rPr lang="en-US" sz="3200" b="1" dirty="0">
                <a:solidFill>
                  <a:srgbClr val="0F2A33"/>
                </a:solidFill>
                <a:latin typeface="Cambria" pitchFamily="34" charset="0"/>
                <a:ea typeface="Cambria" pitchFamily="34" charset="-122"/>
                <a:cs typeface="Cambria" pitchFamily="34" charset="-120"/>
              </a:rPr>
              <a:t>Harvard Reference List</a:t>
            </a:r>
            <a:endParaRPr lang="en-US" sz="3200" dirty="0"/>
          </a:p>
        </p:txBody>
      </p:sp>
      <p:sp>
        <p:nvSpPr>
          <p:cNvPr id="4" name="Shape 2"/>
          <p:cNvSpPr/>
          <p:nvPr/>
        </p:nvSpPr>
        <p:spPr>
          <a:xfrm>
            <a:off x="548640" y="1508760"/>
            <a:ext cx="5440680" cy="2286000"/>
          </a:xfrm>
          <a:prstGeom prst="roundRect">
            <a:avLst>
              <a:gd name="adj" fmla="val 48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77240" y="173736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371600" y="1691640"/>
            <a:ext cx="4434840" cy="201168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DataFirst UCT. (2023). General Household Survey 2023. Available at: https://www.datafirst.uct.ac.za/services/citations (Accessed: 02 March 2025).</a:t>
            </a:r>
            <a:endParaRPr lang="en-US" sz="1400" dirty="0"/>
          </a:p>
        </p:txBody>
      </p:sp>
      <p:sp>
        <p:nvSpPr>
          <p:cNvPr id="7" name="Shape 5"/>
          <p:cNvSpPr/>
          <p:nvPr/>
        </p:nvSpPr>
        <p:spPr>
          <a:xfrm>
            <a:off x="6172200" y="1508760"/>
            <a:ext cx="5440680" cy="2286000"/>
          </a:xfrm>
          <a:prstGeom prst="roundRect">
            <a:avLst>
              <a:gd name="adj" fmla="val 48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8" name="Text 6"/>
          <p:cNvSpPr/>
          <p:nvPr/>
        </p:nvSpPr>
        <p:spPr>
          <a:xfrm>
            <a:off x="6400800" y="173736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6995160" y="1691640"/>
            <a:ext cx="4434840" cy="201168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News24. (2025). New study highlights the impact of fatherlessness in South Africa. News24. Available at: https://www.news24.com (Accessed: 03 March 2025).</a:t>
            </a:r>
            <a:endParaRPr lang="en-US" sz="1400" dirty="0"/>
          </a:p>
        </p:txBody>
      </p:sp>
      <p:sp>
        <p:nvSpPr>
          <p:cNvPr id="10" name="Shape 8"/>
          <p:cNvSpPr/>
          <p:nvPr/>
        </p:nvSpPr>
        <p:spPr>
          <a:xfrm>
            <a:off x="548640" y="3977640"/>
            <a:ext cx="5440680" cy="2286000"/>
          </a:xfrm>
          <a:prstGeom prst="roundRect">
            <a:avLst>
              <a:gd name="adj" fmla="val 48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1" name="Text 9"/>
          <p:cNvSpPr/>
          <p:nvPr/>
        </p:nvSpPr>
        <p:spPr>
          <a:xfrm>
            <a:off x="777240" y="420624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371600" y="4160520"/>
            <a:ext cx="4434840" cy="201168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Daily Maverick. (2023). South African society suffering profound absence of father. Available at: https://www.dailymaverick.co.za/opinionista/2023-06-14-its-fathers-day-but-south-african-society-suffering-profound-absence-of-father-figures/ (Accessed: 05 March 2025).</a:t>
            </a:r>
            <a:endParaRPr lang="en-US" sz="1400" dirty="0"/>
          </a:p>
        </p:txBody>
      </p:sp>
      <p:sp>
        <p:nvSpPr>
          <p:cNvPr id="13" name="Shape 11"/>
          <p:cNvSpPr/>
          <p:nvPr/>
        </p:nvSpPr>
        <p:spPr>
          <a:xfrm>
            <a:off x="6172200" y="3977640"/>
            <a:ext cx="5440680" cy="2286000"/>
          </a:xfrm>
          <a:prstGeom prst="roundRect">
            <a:avLst>
              <a:gd name="adj" fmla="val 4800"/>
            </a:avLst>
          </a:prstGeom>
          <a:solidFill>
            <a:srgbClr val="FFFFFF"/>
          </a:solidFill>
          <a:ln w="9525">
            <a:solidFill>
              <a:srgbClr val="DCE6E8"/>
            </a:solidFill>
            <a:prstDash val="solid"/>
          </a:ln>
          <a:effectLst>
            <a:outerShdw sx="100000" sy="100000" kx="0" ky="0" algn="bl" rotWithShape="0" blurRad="101600" dist="25400" dir="5400000">
              <a:srgbClr val="000000">
                <a:alpha val="8000"/>
              </a:srgbClr>
            </a:outerShdw>
          </a:effectLst>
        </p:spPr>
      </p:sp>
      <p:sp>
        <p:nvSpPr>
          <p:cNvPr id="14" name="Text 12"/>
          <p:cNvSpPr/>
          <p:nvPr/>
        </p:nvSpPr>
        <p:spPr>
          <a:xfrm>
            <a:off x="6400800" y="4206240"/>
            <a:ext cx="411480" cy="411480"/>
          </a:xfrm>
          <a:prstGeom prst="ellipse">
            <a:avLst/>
          </a:prstGeom>
          <a:solidFill>
            <a:srgbClr val="E2F0F1"/>
          </a:solidFill>
          <a:ln/>
        </p:spPr>
        <p:txBody>
          <a:bodyPr wrap="square" lIns="0" tIns="0" rIns="0" bIns="0" rtlCol="0" anchor="ctr"/>
          <a:lstStyle/>
          <a:p>
            <a:pPr algn="ctr" indent="0" marL="0">
              <a:buNone/>
            </a:pPr>
            <a:r>
              <a:rPr lang="en-US" sz="1400" b="1" dirty="0">
                <a:solidFill>
                  <a:srgbClr val="1F7A80"/>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6995160" y="4160520"/>
            <a:ext cx="4434840" cy="2011680"/>
          </a:xfrm>
          <a:prstGeom prst="rect">
            <a:avLst/>
          </a:prstGeom>
          <a:noFill/>
          <a:ln/>
        </p:spPr>
        <p:txBody>
          <a:bodyPr wrap="square" lIns="0" tIns="0" rIns="0" bIns="0" rtlCol="0" anchor="t"/>
          <a:lstStyle/>
          <a:p>
            <a:pPr algn="l" indent="0" marL="0">
              <a:buNone/>
            </a:pPr>
            <a:r>
              <a:rPr lang="en-US" sz="1400" dirty="0">
                <a:solidFill>
                  <a:srgbClr val="1B2B33"/>
                </a:solidFill>
                <a:latin typeface="Calibri" pitchFamily="34" charset="0"/>
                <a:ea typeface="Calibri" pitchFamily="34" charset="-122"/>
                <a:cs typeface="Calibri" pitchFamily="34" charset="-120"/>
              </a:rPr>
              <a:t>Mavungu Eddy, M., Thomson-de Boor, H. and Mphaka, K. (2013). SO WE ARE ATM FATHERS: A study of absent fathers in Johannesburg, South Africa. Johannesburg: Centre for Social Development in Africa, University of Johannesburg. Copyright: The authors, the Centre for Social Development in Africa, University of Johannesburg, and Sonke Gender Justice.</a:t>
            </a:r>
            <a:endParaRPr lang="en-US" sz="14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D7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7863840" y="1097280"/>
            <a:ext cx="1463040" cy="1463040"/>
          </a:xfrm>
          <a:prstGeom prst="ellipse">
            <a:avLst/>
          </a:prstGeom>
          <a:solidFill>
            <a:srgbClr val="F2A03D"/>
          </a:solidFill>
          <a:ln/>
        </p:spPr>
      </p:sp>
      <p:sp>
        <p:nvSpPr>
          <p:cNvPr id="3" name="Shape 1"/>
          <p:cNvSpPr/>
          <p:nvPr/>
        </p:nvSpPr>
        <p:spPr>
          <a:xfrm>
            <a:off x="9326880" y="2194560"/>
            <a:ext cx="2011680" cy="2011680"/>
          </a:xfrm>
          <a:prstGeom prst="ellipse">
            <a:avLst/>
          </a:prstGeom>
          <a:solidFill>
            <a:srgbClr val="1F7A80"/>
          </a:solidFill>
          <a:ln/>
        </p:spPr>
      </p:sp>
      <p:sp>
        <p:nvSpPr>
          <p:cNvPr id="4" name="Shape 2"/>
          <p:cNvSpPr/>
          <p:nvPr/>
        </p:nvSpPr>
        <p:spPr>
          <a:xfrm>
            <a:off x="7498080" y="3200400"/>
            <a:ext cx="1097280" cy="1097280"/>
          </a:xfrm>
          <a:prstGeom prst="ellipse">
            <a:avLst/>
          </a:prstGeom>
          <a:solidFill>
            <a:srgbClr val="B5352B"/>
          </a:solidFill>
          <a:ln/>
        </p:spPr>
      </p:sp>
      <p:sp>
        <p:nvSpPr>
          <p:cNvPr id="5" name="Shape 3"/>
          <p:cNvSpPr/>
          <p:nvPr/>
        </p:nvSpPr>
        <p:spPr>
          <a:xfrm>
            <a:off x="8961120" y="4480560"/>
            <a:ext cx="1280160" cy="1280160"/>
          </a:xfrm>
          <a:prstGeom prst="ellipse">
            <a:avLst/>
          </a:prstGeom>
          <a:solidFill>
            <a:srgbClr val="18424E"/>
          </a:solidFill>
          <a:ln/>
        </p:spPr>
      </p:sp>
      <p:sp>
        <p:nvSpPr>
          <p:cNvPr id="6" name="Shape 4"/>
          <p:cNvSpPr/>
          <p:nvPr/>
        </p:nvSpPr>
        <p:spPr>
          <a:xfrm>
            <a:off x="10607040" y="914400"/>
            <a:ext cx="822960" cy="822960"/>
          </a:xfrm>
          <a:prstGeom prst="ellipse">
            <a:avLst/>
          </a:prstGeom>
          <a:solidFill>
            <a:srgbClr val="FFFFFF">
              <a:alpha val="15000"/>
            </a:srgbClr>
          </a:solidFill>
          <a:ln/>
        </p:spPr>
      </p:sp>
      <p:sp>
        <p:nvSpPr>
          <p:cNvPr id="7" name="Shape 5"/>
          <p:cNvSpPr/>
          <p:nvPr/>
        </p:nvSpPr>
        <p:spPr>
          <a:xfrm>
            <a:off x="10424160" y="4754880"/>
            <a:ext cx="914400" cy="914400"/>
          </a:xfrm>
          <a:prstGeom prst="ellipse">
            <a:avLst/>
          </a:prstGeom>
          <a:solidFill>
            <a:srgbClr val="F2A03D">
              <a:alpha val="70000"/>
            </a:srgbClr>
          </a:solidFill>
          <a:ln/>
        </p:spPr>
      </p:sp>
      <p:sp>
        <p:nvSpPr>
          <p:cNvPr id="8" name="Text 6"/>
          <p:cNvSpPr txBox="1"/>
          <p:nvPr/>
        </p:nvSpPr>
        <p:spPr>
          <a:xfrm>
            <a:off x="731520" y="2377440"/>
            <a:ext cx="6400800" cy="1371600"/>
          </a:xfrm>
          <a:prstGeom prst="rect">
            <a:avLst/>
          </a:prstGeom>
          <a:noFill/>
          <a:ln/>
        </p:spPr>
        <p:txBody>
          <a:bodyPr wrap="square" lIns="0" tIns="0" rIns="0" bIns="0" rtlCol="0" anchor="ctr"/>
          <a:lstStyle/>
          <a:p>
            <a:pPr algn="l"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9" name="Text 7"/>
          <p:cNvSpPr txBox="1"/>
          <p:nvPr/>
        </p:nvSpPr>
        <p:spPr>
          <a:xfrm>
            <a:off x="731520" y="3840480"/>
            <a:ext cx="6400800" cy="365760"/>
          </a:xfrm>
          <a:prstGeom prst="rect">
            <a:avLst/>
          </a:prstGeom>
          <a:noFill/>
          <a:ln/>
        </p:spPr>
        <p:txBody>
          <a:bodyPr wrap="square" lIns="0" tIns="0" rIns="0" bIns="0" rtlCol="0" anchor="t"/>
          <a:lstStyle/>
          <a:p>
            <a:pPr algn="l" indent="0" marL="0">
              <a:buNone/>
            </a:pPr>
            <a:r>
              <a:rPr lang="en-US" sz="1600" dirty="0">
                <a:solidFill>
                  <a:srgbClr val="D5E4E7"/>
                </a:solidFill>
                <a:latin typeface="Calibri" pitchFamily="34" charset="0"/>
                <a:ea typeface="Calibri" pitchFamily="34" charset="-122"/>
                <a:cs typeface="Calibri" pitchFamily="34" charset="-120"/>
              </a:rPr>
              <a:t>Asnath Miandabu  ·  Sol Plaatje University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and Predicting Father Absence in South Africa</dc:title>
  <dc:subject>PptxGenJS Presentation</dc:subject>
  <dc:creator>Asnath Miandabu</dc:creator>
  <cp:lastModifiedBy>Asnath Miandabu</cp:lastModifiedBy>
  <cp:revision>1</cp:revision>
  <dcterms:created xsi:type="dcterms:W3CDTF">2026-09-29T20:53:32Z</dcterms:created>
  <dcterms:modified xsi:type="dcterms:W3CDTF">2026-09-29T20:53:32Z</dcterms:modified>
</cp:coreProperties>
</file>